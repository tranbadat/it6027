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7" r:id="rId28"/>
    <p:sldId id="266" r:id="rId12"/>
    <p:sldId id="278" r:id="rId29"/>
    <p:sldId id="279" r:id="rId30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ở đầu" id="{2101ef6f-a6ae-c54b-5be0-aaffbed92d50}">
          <p14:sldIdLst>
            <p14:sldId id="256"/>
            <p14:sldId id="257"/>
            <p14:sldId id="258"/>
          </p14:sldIdLst>
        </p14:section>
        <p14:section name="Kiến trúc &amp; môi trường" id="{d7f6522f-1fdf-c6e9-a28c-1705be12fe98}">
          <p14:sldIdLst>
            <p14:sldId id="259"/>
            <p14:sldId id="260"/>
            <p14:sldId id="261"/>
            <p14:sldId id="262"/>
            <p14:sldId id="263"/>
          </p14:sldIdLst>
        </p14:section>
        <p14:section name="Use case" id="{8ce96baa-426a-fc7c-2887-b867fe31e3ca}">
          <p14:sldIdLst>
            <p14:sldId id="264"/>
            <p14:sldId id="265"/>
            <p14:sldId id="266"/>
          </p14:sldIdLst>
        </p14:section>
        <p14:section name="Phân tích thiết kế" id="{2171cc13-dc7b-f86b-285d-c5d7e76e9b68}">
          <p14:sldIdLst>
            <p14:sldId id="267"/>
            <p14:sldId id="268"/>
            <p14:sldId id="269"/>
            <p14:sldId id="270"/>
            <p14:sldId id="271"/>
          </p14:sldIdLst>
        </p14:section>
        <p14:section name="Vận hành &amp; kiểm thử" id="{3a5b597e-8568-a477-4d0c-c3fe3d8fe99a}">
          <p14:sldIdLst>
            <p14:sldId id="272"/>
            <p14:sldId id="273"/>
            <p14:sldId id="274"/>
            <p14:sldId id="275"/>
          </p14:sldIdLst>
        </p14:section>
        <p14:section name="Kết luận" id="{5d0b4a44-ac51-1877-a6b0-c82d8167102b}">
          <p14:sldIdLst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  <Relationship Id="rId28" Type="http://schemas.openxmlformats.org/officeDocument/2006/relationships/slide" Target="slides/slide22.xml"/>
  <Relationship Id="rId29" Type="http://schemas.openxmlformats.org/officeDocument/2006/relationships/slide" Target="slides/slide23.xml"/>
  <Relationship Id="rId30" Type="http://schemas.openxmlformats.org/officeDocument/2006/relationships/slide" Target="slides/slide24.xml"/>
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172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F172A"/>
                </a:solidFill>
                <a:latin typeface="+mn-lt"/>
              </a:rPr>
              <a:t>Recall theo nhóm tấn công (270 request payload, seed 1337)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Hệ thống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cmd_inj</c:v>
                  </c:pt>
                  <c:pt idx="1">
                    <c:v>lfi</c:v>
                  </c:pt>
                  <c:pt idx="2">
                    <c:v>log4shell</c:v>
                  </c:pt>
                  <c:pt idx="3">
                    <c:v>path_trav</c:v>
                  </c:pt>
                  <c:pt idx="4">
                    <c:v>rfi</c:v>
                  </c:pt>
                  <c:pt idx="5">
                    <c:v>sens_file</c:v>
                  </c:pt>
                  <c:pt idx="6">
                    <c:v>sqli</c:v>
                  </c:pt>
                  <c:pt idx="7">
                    <c:v>ssti</c:v>
                  </c:pt>
                  <c:pt idx="8">
                    <c:v>xss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0.67</c:v>
                </c:pt>
                <c:pt idx="7">
                  <c:v>0.72</c:v>
                </c:pt>
                <c:pt idx="8">
                  <c:v>0.85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ModSecurity CRS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cmd_inj</c:v>
                  </c:pt>
                  <c:pt idx="1">
                    <c:v>lfi</c:v>
                  </c:pt>
                  <c:pt idx="2">
                    <c:v>log4shell</c:v>
                  </c:pt>
                  <c:pt idx="3">
                    <c:v>path_trav</c:v>
                  </c:pt>
                  <c:pt idx="4">
                    <c:v>rfi</c:v>
                  </c:pt>
                  <c:pt idx="5">
                    <c:v>sens_file</c:v>
                  </c:pt>
                  <c:pt idx="6">
                    <c:v>sqli</c:v>
                  </c:pt>
                  <c:pt idx="7">
                    <c:v>ssti</c:v>
                  </c:pt>
                  <c:pt idx="8">
                    <c:v>xss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0.7</c:v>
                </c:pt>
                <c:pt idx="1">
                  <c:v>1</c:v>
                </c:pt>
                <c:pt idx="2">
                  <c:v>1</c:v>
                </c:pt>
                <c:pt idx="3">
                  <c:v>0.96</c:v>
                </c:pt>
                <c:pt idx="4">
                  <c:v>0</c:v>
                </c:pt>
                <c:pt idx="5">
                  <c:v>1</c:v>
                </c:pt>
                <c:pt idx="6">
                  <c:v>1</c:v>
                </c:pt>
                <c:pt idx="7">
                  <c:v>0.28</c:v>
                </c:pt>
                <c:pt idx="8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172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F172A"/>
                </a:solidFill>
                <a:latin typeface="+mn-lt"/>
              </a:rPr>
              <a:t>Thời gian xử lý hết đợt tải (giây)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Thời gian (s)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dLbls>
            <c:numFmt formatCode="0.0&quot; s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7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Lần đầu (từng message)</c:v>
                  </c:pt>
                  <c:pt idx="1">
                    <c:v>Bước 1: consume batch</c:v>
                  </c:pt>
                  <c:pt idx="2">
                    <c:v>Bước 2: C1 gửi theo vòng poll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138.2</c:v>
                </c:pt>
                <c:pt idx="1">
                  <c:v>8.8</c:v>
                </c:pt>
                <c:pt idx="2">
                  <c:v>4.5</c:v>
                </c:pt>
              </c:numCache>
            </c:numRef>
          </c:val>
        </c:ser>
        <c:dLbls>
          <c:numFmt formatCode="0.0&quot; s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17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7556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Giới thiệu đề tài: hệ thống phân tích access log theo thời gian thực để phát hiện và cảnh báo tấn công web.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Request GET /api/products?id=1' OR '1'='1 đi qua Nginx, C1, C2, C3 rồi detector. Mỗi bước kiểm tra scope; detector khớp SQLI_BOOLEAN_TAUTOLOGY 85 điểm, vượt ngưỡng 70.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BD5E1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IT6027 - WAF Log Analyzer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2296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 giám sát và phát hiện tấn công web từ access log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28600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vi-VN" sz="1600" dirty="0">
                <a:solidFill>
                  <a:srgbClr val="CBD5E1"/>
                </a:solidFill>
                <a:latin typeface="Arial"/>
              </a:rPr>
              <a:t>WAF Log Analyzer</a:t>
            </a:r>
          </a:p>
          <a:p>
            <a:pPr algn="l" indent="0" marL="0">
              <a:spcBef>
                <a:spcPts val="300"/>
              </a:spcBef>
              <a:buNone/>
            </a:pPr>
            <a:r>
              <a:rPr lang="vi-VN" sz="1600" dirty="0">
                <a:solidFill>
                  <a:srgbClr val="CBD5E1"/>
                </a:solidFill>
                <a:latin typeface="Arial"/>
              </a:rPr>
              <a:t>Báo cáo bài tập lớn môn Chính sách và Quản trị An ninh mạng (IT6027)</a:t>
            </a:r>
          </a:p>
          <a:p>
            <a:pPr algn="l" indent="0" marL="0">
              <a:spcBef>
                <a:spcPts val="300"/>
              </a:spcBef>
              <a:buNone/>
            </a:pPr>
            <a:r>
              <a:rPr lang="vi-VN" sz="1600" dirty="0">
                <a:solidFill>
                  <a:srgbClr val="CBD5E1"/>
                </a:solidFill>
                <a:latin typeface="Arial"/>
              </a:rPr>
              <a:t>Đại học Bách Khoa Hà Nội, tháng 10/2026</a:t>
            </a:r>
          </a:p>
        </p:txBody>
      </p:sp>
      <p:sp>
        <p:nvSpPr>
          <p:cNvPr id="5" name="Text 2"/>
          <p:cNvSpPr txBox="1"/>
          <p:nvPr/>
        </p:nvSpPr>
        <p:spPr>
          <a:xfrm>
            <a:off x="548640" y="361188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vi-VN" sz="1300" dirty="0">
                <a:solidFill>
                  <a:srgbClr val="94A3B8"/>
                </a:solidFill>
                <a:latin typeface="Arial"/>
              </a:rPr>
              <a:t>Giảng viên hướng dẫn: TS. Nguyễn Đức Toàn, TS. Lê Xuân Thành</a:t>
            </a:r>
          </a:p>
          <a:p>
            <a:pPr algn="l" indent="0" marL="0">
              <a:spcBef>
                <a:spcPts val="300"/>
              </a:spcBef>
              <a:buNone/>
            </a:pPr>
            <a:r>
              <a:rPr lang="vi-VN" sz="1300" dirty="0">
                <a:solidFill>
                  <a:srgbClr val="94A3B8"/>
                </a:solidFill>
                <a:latin typeface="Arial"/>
              </a:rPr>
              <a:t>Sinh viên: Trần Bá Đạt (20252129M), Nguyễn Thị Phương Liên (20252130M), Ngô Hoàng Xuân Hải (20252042M)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dung trình bày</a:t>
            </a:r>
            <a:endParaRPr lang="en-US" sz="2600" dirty="0"/>
          </a:p>
        </p:txBody>
      </p:sp>
      <p:sp>
        <p:nvSpPr>
          <p:cNvPr id="3" name="agenda0"/>
          <p:cNvSpPr/>
          <p:nvPr/>
        </p:nvSpPr>
        <p:spPr>
          <a:xfrm>
            <a:off x="457200" y="114300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417320"/>
            <a:ext cx="548640" cy="54864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 wrap="none" lIns="0" tIns="0" rIns="0" bIns="0" anchor="ctr"/>
          <a:lstStyle/>
          <a:p>
            <a:pPr algn="ctr"/>
            <a:r>
              <a:rPr lang="vi-VN" sz="1600" dirty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 3"/>
          <p:cNvSpPr txBox="1"/>
          <p:nvPr/>
        </p:nvSpPr>
        <p:spPr>
          <a:xfrm>
            <a:off x="1417320" y="13990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Kiến trúc và môi trường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80136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Microservice hướng sự kiện, Kafka, 3 stack Docker, OS, thư viện và phiên bản</a:t>
            </a:r>
            <a:endParaRPr lang="en-US" sz="1300" dirty="0"/>
          </a:p>
        </p:txBody>
      </p:sp>
      <p:sp>
        <p:nvSpPr>
          <p:cNvPr id="8" name="agenda1"/>
          <p:cNvSpPr/>
          <p:nvPr/>
        </p:nvSpPr>
        <p:spPr>
          <a:xfrm>
            <a:off x="4663440" y="114300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892040" y="1417320"/>
            <a:ext cx="548640" cy="54864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none" lIns="0" tIns="0" rIns="0" bIns="0" anchor="ctr"/>
          <a:lstStyle/>
          <a:p>
            <a:pPr algn="ctr"/>
            <a:r>
              <a:rPr lang="vi-VN" sz="1600" dirty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 7"/>
          <p:cNvSpPr txBox="1"/>
          <p:nvPr/>
        </p:nvSpPr>
        <p:spPr>
          <a:xfrm>
            <a:off x="5623560" y="13990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Use case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623560" y="180136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Biểu đồ tổng quan và phân rã các chức năng chính</a:t>
            </a:r>
            <a:endParaRPr lang="en-US" sz="1300" dirty="0"/>
          </a:p>
        </p:txBody>
      </p:sp>
      <p:sp>
        <p:nvSpPr>
          <p:cNvPr id="13" name="agenda2"/>
          <p:cNvSpPr/>
          <p:nvPr/>
        </p:nvSpPr>
        <p:spPr>
          <a:xfrm>
            <a:off x="457200" y="283464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85800" y="3108960"/>
            <a:ext cx="548640" cy="5486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 wrap="none" lIns="0" tIns="0" rIns="0" bIns="0" anchor="ctr"/>
          <a:lstStyle/>
          <a:p>
            <a:pPr algn="ctr"/>
            <a:r>
              <a:rPr lang="vi-VN" sz="1600" dirty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 11"/>
          <p:cNvSpPr txBox="1"/>
          <p:nvPr/>
        </p:nvSpPr>
        <p:spPr>
          <a:xfrm>
            <a:off x="1417320" y="30906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Phân tích thiết kế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1417320" y="349300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Luồng phát hiện SQLi: sơ đồ tuần tự, hoạt động, CSDL</a:t>
            </a:r>
            <a:endParaRPr lang="en-US" sz="1300" dirty="0"/>
          </a:p>
        </p:txBody>
      </p:sp>
      <p:sp>
        <p:nvSpPr>
          <p:cNvPr id="18" name="agenda3"/>
          <p:cNvSpPr/>
          <p:nvPr/>
        </p:nvSpPr>
        <p:spPr>
          <a:xfrm>
            <a:off x="4663440" y="283464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892040" y="3108960"/>
            <a:ext cx="548640" cy="5486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 wrap="none" lIns="0" tIns="0" rIns="0" bIns="0" anchor="ctr"/>
          <a:lstStyle/>
          <a:p>
            <a:pPr algn="ctr"/>
            <a:r>
              <a:rPr lang="vi-VN" sz="1600" dirty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 15"/>
          <p:cNvSpPr txBox="1"/>
          <p:nvPr/>
        </p:nvSpPr>
        <p:spPr>
          <a:xfrm>
            <a:off x="5623560" y="30906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Vận hành, kiểm thử, đo đạc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5623560" y="349300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E2E, độ chính xác so với ModSecurity CRS, kiểm thử tải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toán và mục tiêu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Access log là nguồn dữ liệu sẵn có, không cần sửa ứng dụng, để nhận diện SQLi, XSS, Path Traversal.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Thu thập log liên tục (tail), không nạp file thủ công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Rule engine tự viết, không dùng lại OWASP CRS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Chấm điểm bất thường theo rule và tín hiệu hành vi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Cảnh báo theo domain, dashboard realtime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Chỉ phát hiện và cảnh báo, không tự chặn IP; chỉ xử lý domain trong scope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577840" y="1097280"/>
            <a:ext cx="1463040" cy="1417320"/>
          </a:xfrm>
          <a:prstGeom prst="roundRect">
            <a:avLst>
              <a:gd name="adj" fmla="val 5161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577840" y="12801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577840" y="19933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2E8F0"/>
                </a:solidFill>
              </a:rPr>
              <a:t>rule tự viết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178040" y="1097280"/>
            <a:ext cx="1463040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178040" y="12801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7178040" y="19933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nhóm tấn công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577840" y="2697480"/>
            <a:ext cx="1463040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577840" y="28803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35935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service / module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178040" y="2697480"/>
            <a:ext cx="1463040" cy="1417320"/>
          </a:xfrm>
          <a:prstGeom prst="roundRect">
            <a:avLst>
              <a:gd name="adj" fmla="val 5161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178040" y="28803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173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178040" y="35935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2E8F0"/>
                </a:solidFill>
              </a:rPr>
              <a:t>unit test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tổng thể: microservice hướng sự kiện</a:t>
            </a:r>
            <a:endParaRPr lang="en-US" sz="2600" dirty="0"/>
          </a:p>
        </p:txBody>
      </p:sp>
      <p:pic>
        <p:nvPicPr>
          <p:cNvPr id="3" name="Sơ đồ kiến trúc" descr="Sơ đồ kiến trú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4237"/>
            <a:ext cx="5760720" cy="351508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0" y="1005840"/>
            <a:ext cx="2286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E7490"/>
                </a:solidFill>
              </a:rPr>
              <a:t>6 tầng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Nguồn log, thu thập, event bus, phát hiện, nền tảng, dữ liệu</a:t>
            </a:r>
            <a:endParaRPr lang="en-US" sz="125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rgbClr val="0E7490"/>
                </a:solidFill>
              </a:rPr>
              <a:t>Kafka là kênh giao tiếp chung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Tên topic trùng tên sự kiện, key domain|src_ip, at-least-once</a:t>
            </a:r>
            <a:endParaRPr lang="en-US" sz="125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rgbClr val="0E7490"/>
                </a:solidFill>
              </a:rPr>
              <a:t>Ràng buộc scope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C1-C3 và detector gọi GET /scope/check trước khi xử lý (fail-closed)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Luồng sự kiện qua Kafka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132588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57200" y="13258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5564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Ingestion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4825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tail log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28800" y="1719072"/>
            <a:ext cx="292608" cy="274320"/>
          </a:xfrm>
          <a:prstGeom prst="rightArrow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325880" y="26060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log.raw.ingested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157984" y="1234440"/>
            <a:ext cx="132588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157984" y="13258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157984" y="175564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Parser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157984" y="204825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chuẩn hoá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529584" y="1719072"/>
            <a:ext cx="292608" cy="274320"/>
          </a:xfrm>
          <a:prstGeom prst="rightArrow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26664" y="26060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log.normalized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858768" y="1234440"/>
            <a:ext cx="132588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3858768" y="13258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858768" y="175564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Enrichment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858768" y="204825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GeoIP, phiên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230368" y="1719072"/>
            <a:ext cx="292608" cy="274320"/>
          </a:xfrm>
          <a:prstGeom prst="rightArrow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27448" y="26060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log.enriched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559552" y="1234440"/>
            <a:ext cx="1325880" cy="1234440"/>
          </a:xfrm>
          <a:prstGeom prst="roundRect">
            <a:avLst>
              <a:gd name="adj" fmla="val 592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5559552" y="13258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D1, D3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5559552" y="175564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Detector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559552" y="204825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</a:rPr>
              <a:t>rule và điểm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931152" y="1719072"/>
            <a:ext cx="292608" cy="274320"/>
          </a:xfrm>
          <a:prstGeom prst="rightArrow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28232" y="26060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alert.triggered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attack.detected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260336" y="1234440"/>
            <a:ext cx="132588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260336" y="13258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P4, P5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7260336" y="175564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Alert, UI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260336" y="204825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email, SSE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517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85800" y="3154680"/>
            <a:ext cx="7772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Envelope thống nhất: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 event, event_id, schema_version, request_id | session_id, timestamp, source, domain, data }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Kafka 4.1 KRaft, 3 partition mỗi topic sự kiện, retention 3 ngày;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rules.changed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(compacted),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waf.deadletter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(7 ngày)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Commit offset chỉ sau khi broker xác nhận mọi output, bảo đảm at-least-once; event_id do detector sinh xác định theo input nên không trùng khi xử lý lại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 hình triển khai: 3 stack và giám sát</a:t>
            </a:r>
            <a:endParaRPr lang="en-US" sz="2600" dirty="0"/>
          </a:p>
        </p:txBody>
      </p:sp>
      <p:pic>
        <p:nvPicPr>
          <p:cNvPr id="3" name="Sơ đồ triển khai" descr="Sơ đồ triển kh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817" y="914400"/>
            <a:ext cx="7124366" cy="32461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up</a:t>
            </a:r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: demo 1 stack;   </a:t>
            </a:r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deploy-up</a:t>
            </a:r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: 3 stack;   </a:t>
            </a:r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obs-up</a:t>
            </a:r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: Grafana;   </a:t>
            </a:r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server-up</a:t>
            </a:r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: server thật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Môi trường triển khai: hệ điều hành và runtime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1206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325880"/>
                <a:gridCol w="2926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Mức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Thành phần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Hệ điều hành / phiên bản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chủ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Linux 64-bit (Ubuntu 22.04/24.04 LTS) với Docker Engine; hoặc macOS, Windows (WSL2) với Docker Desktop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Host (đo)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thực nghiệm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macOS, Apple M4 (arm64), Docker Desktop 10 CPU, 8 GB 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Container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C1-C3, P1-P5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Debian GNU/Linux, python:3.12-slim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Container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detector, rule-api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Ubuntu LTS, eclipse-temurin:17-jre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Container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nginx, gateway, postgres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Alpine Linux, nginx:1.28-alpine, postgres:17-alpine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852160" y="960120"/>
            <a:ext cx="2834640" cy="3611880"/>
          </a:xfrm>
          <a:prstGeom prst="roundRect">
            <a:avLst>
              <a:gd name="adj" fmla="val 2581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035040" y="10789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9E0B"/>
                </a:solidFill>
              </a:rPr>
              <a:t>Runtime và công cụ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15087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Python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589520" y="1508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3.12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198424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Java (Temurin)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589520" y="1984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17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035040" y="245973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Maven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45973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3.9.11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035040" y="293522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Docker Compose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589520" y="29352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≥ 2.30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035040" y="341071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Kafka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589520" y="34107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4.1.0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6035040" y="38862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PostgreSQL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589520" y="38862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17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1605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Tiện ích: make, curl, jq, openssl, Redocly CLI 1.34.5, GeoIP DB-IP City Lite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Thư viện, công cụ và phiên bản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265176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9601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Thư viện Python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Phiên bản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confluent-kafka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2.16.0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fastapi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0.115.5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uvicorn[standard]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psycopg[binary] / pool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3.2.3 / 3.2.4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PyJWT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geoip2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PyYAML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6.0.2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jsonschema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4.23.0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prometheus-client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960120"/>
          <a:ext cx="25603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8686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Thư viện Java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Phiên bản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kafka-clients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4.1.2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jackson-databind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2.20.1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jackson-dataformat-yaml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2.20.1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re2j (regex RE2)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junit-jupiter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5.14.1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960120"/>
          <a:ext cx="26517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801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Hạ tầng / công cụ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Phiên bản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Nginx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1.28-alpine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Mailpit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v1.27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Swagger UI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v5.27.1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Kafka UI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v1.4.2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Prometheus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v3.1.0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Grafana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11.4.0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Loki / Promtail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3.3.2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kafka-exporter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v1.9.0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ModSecurity CRS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4.25.2 (đối chứng)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3291840" y="30175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E7490"/>
                </a:solidFill>
              </a:rPr>
              <a:t>Mọi phiên bản được ghim cố định trong requirements.txt, pom.xml và docker-compose.yml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Biểu đồ use case tổng quan</a:t>
            </a:r>
            <a:endParaRPr lang="en-US" sz="2600" dirty="0"/>
          </a:p>
        </p:txBody>
      </p:sp>
      <p:pic>
        <p:nvPicPr>
          <p:cNvPr id="3" name="Use case tổng quan" descr="Use case tổng qu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870" y="868680"/>
            <a:ext cx="4798499" cy="3886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309360" y="1097280"/>
            <a:ext cx="2377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E7490"/>
                </a:solidFill>
              </a:rPr>
              <a:t>4 tác nhân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Chuyên viên SOC, Quản trị viên (kế thừa SOC), Web server, Kênh nhận cảnh báo</a:t>
            </a:r>
            <a:endParaRPr lang="en-US" sz="125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rgbClr val="0E7490"/>
                </a:solidFill>
              </a:rPr>
              <a:t>10 use case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UC02, UC03, UC07, UC08, UC09 include UC01 Đăng nhập (JWT)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UC04 include UC05; UC06 extend UC05 khi điểm đạt ngưỡng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rã UC03: quản lý rule phát hiện</a:t>
            </a:r>
            <a:endParaRPr lang="en-US" sz="2600" dirty="0"/>
          </a:p>
        </p:txBody>
      </p:sp>
      <p:pic>
        <p:nvPicPr>
          <p:cNvPr id="3" name="Phân rã UC03" descr="Phân rã UC0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8531" y="900000"/>
            <a:ext cx="6366938" cy="3430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4390000"/>
            <a:ext cx="8229600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UC03 - CRUD rule, kiểm tra RE2, chạy thử rule trên request mẫu, phát snapshot rules.changed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rã UC04: thu thập và chuẩn hoá log</a:t>
            </a:r>
            <a:endParaRPr lang="en-US" sz="2600" dirty="0"/>
          </a:p>
        </p:txBody>
      </p:sp>
      <p:pic>
        <p:nvPicPr>
          <p:cNvPr id="3" name="Phân rã UC04" descr="Phân rã UC0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7896" y="900000"/>
            <a:ext cx="5988208" cy="34300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457200" y="4390000"/>
            <a:ext cx="8229600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UC04 - đọc log, parse, kiểm tra phạm vi, GeoIP, đếm tần suất, gom phiên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Sơ đồ tuần tự (a): phát hiện SQL Injection</a:t>
            </a:r>
            <a:endParaRPr lang="en-US" sz="2600" dirty="0"/>
          </a:p>
        </p:txBody>
      </p:sp>
      <p:pic>
        <p:nvPicPr>
          <p:cNvPr id="3" name="Sơ đồ tuần tự a" descr="Sơ đồ tuần tự 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8414" y="868680"/>
            <a:ext cx="6847172" cy="3840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Sơ đồ tuần tự (b): cảnh báo và hiển thị realtime</a:t>
            </a:r>
            <a:endParaRPr lang="en-US" sz="2600" dirty="0"/>
          </a:p>
        </p:txBody>
      </p:sp>
      <p:pic>
        <p:nvPicPr>
          <p:cNvPr id="3" name="Sơ đồ tuần tự b" descr="Sơ đồ tuần tự 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54763"/>
            <a:ext cx="6035040" cy="286831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583680" y="1005840"/>
            <a:ext cx="21031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E7490"/>
                </a:solidFill>
              </a:rPr>
              <a:t>Hai nhánh song song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P4 và P5 là hai consumer group độc lập</a:t>
            </a:r>
            <a:endParaRPr lang="en-US" sz="125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rgbClr val="0E7490"/>
                </a:solidFill>
              </a:rPr>
              <a:t>P4 Alerting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Ngưỡng theo domain, cooldown (domain, IP, loại), gửi email và webhook</a:t>
            </a:r>
            <a:endParaRPr lang="en-US" sz="125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rgbClr val="0E7490"/>
                </a:solidFill>
              </a:rPr>
              <a:t>P5 Dashboard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Lưu detection.attacks, đẩy SSE; truy cập qua Gateway với JWT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Sơ đồ hoạt động (swimlane theo service)</a:t>
            </a:r>
            <a:endParaRPr lang="en-US" sz="2600" dirty="0"/>
          </a:p>
        </p:txBody>
      </p:sp>
      <p:pic>
        <p:nvPicPr>
          <p:cNvPr id="3" name="Sơ đồ hoạt động" descr="Sơ đồ hoạt độ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6075" y="868680"/>
            <a:ext cx="3551290" cy="3886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0" y="1005840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0" y="1005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93268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Domain thuộc scope?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120640" y="124358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Không: bỏ qua, vẫn commit offset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0" y="1764792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0" y="17647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120640" y="16916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Parse được dòng log?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120640" y="200253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Không: ghi vào waf.deadletter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0" y="2523744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0" y="25237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120640" y="245059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Có rule khớp?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120640" y="276148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Có: phát attack.detected (mỗi rule 1 sự kiện)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572000" y="3282696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72000" y="32826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120640" y="320954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Điểm ≥ 70 và qua cooldown 15 s?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120640" y="3520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Có: phát alert.triggered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572000" y="4041648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72000" y="40416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120640" y="396849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Vượt ngưỡng domain (P4)?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120640" y="427939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Có: lưu cảnh báo, gửi email và webhook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cơ sở dữ liệu</a:t>
            </a:r>
            <a:endParaRPr lang="en-US" sz="2600" dirty="0"/>
          </a:p>
        </p:txBody>
      </p:sp>
      <p:pic>
        <p:nvPicPr>
          <p:cNvPr id="3" name="ERD" descr="E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64" y="868680"/>
            <a:ext cx="7408873" cy="32461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PostgreSQL 17, mỗi module một schema riêng; quan hệ logic (không khai báo FK) vì bảng do các service khác nhau ghi bất đồng bộ từ Kafka; rule lưu ở rules.json và topic compacted rules.changed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Thuật toán chấm điểm bất thường (D3)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95, 85, 65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276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Rule khớp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653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điểm cao nhất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46120" y="100584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429000" y="11430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6276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Rule khớp thêm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8653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mỗi rule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35040" y="100584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217920" y="11430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6276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request_burst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8653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≥ 20 request / 60 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33172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40080" y="24688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29535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request_flood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19125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≥ 100 request / 60 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246120" y="233172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29000" y="24688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29535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http_error_burst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429000" y="319125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≥ 8 lỗi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035040" y="233172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217920" y="24688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6217920" y="29535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path_scan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319125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≥ 12 path khác nhau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373075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85800" y="37947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</a:rPr>
              <a:t>Tổng chặn ở 100, cảnh báo khi ≥ 70.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Nguồn không mang payload vẫn bị phát hiện: dò quét 30 + 25 + 25 = 80, flood một nguồn 30 + 40 = 70. Regex RE2 có thời gian khớp tuyến tính nên không bị ReDoS.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1: vận hành và kiểm thử end-to-end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502920" cy="50292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 wrap="none" lIns="0" tIns="0" rIns="0" bIns="0" anchor="ctr"/>
          <a:lstStyle/>
          <a:p>
            <a:pPr algn="ctr"/>
            <a:r>
              <a:rPr lang="vi-VN" sz="1500" dirty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 2"/>
          <p:cNvSpPr txBox="1"/>
          <p:nvPr/>
        </p:nvSpPr>
        <p:spPr>
          <a:xfrm>
            <a:off x="1097280" y="987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up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126187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Build và khởi động toàn bộ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1874520"/>
            <a:ext cx="502920" cy="50292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 wrap="none" lIns="0" tIns="0" rIns="0" bIns="0" anchor="ctr"/>
          <a:lstStyle/>
          <a:p>
            <a:pPr algn="ctr"/>
            <a:r>
              <a:rPr lang="vi-VN" sz="1500" dirty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 5"/>
          <p:cNvSpPr txBox="1"/>
          <p:nvPr/>
        </p:nvSpPr>
        <p:spPr>
          <a:xfrm>
            <a:off x="1097280" y="18562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demo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097280" y="213055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Gửi request thật: bình thường, SQLi, XSS, PT, CI, LFI/RFI, Log4Shell.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57200" y="2743200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 wrap="none" lIns="0" tIns="0" rIns="0" bIns="0" anchor="ctr"/>
          <a:lstStyle/>
          <a:p>
            <a:pPr algn="ctr"/>
            <a:r>
              <a:rPr lang="vi-VN" sz="1500" dirty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 8"/>
          <p:cNvSpPr txBox="1"/>
          <p:nvPr/>
        </p:nvSpPr>
        <p:spPr>
          <a:xfrm>
            <a:off x="1097280" y="2724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e2e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1097280" y="299923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Nghiệm thu tự động (chờ tối đa 45 s)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457200" y="3611880"/>
            <a:ext cx="502920" cy="50292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none" lIns="0" tIns="0" rIns="0" bIns="0" anchor="ctr"/>
          <a:lstStyle/>
          <a:p>
            <a:pPr algn="ctr"/>
            <a:r>
              <a:rPr lang="vi-VN" sz="1500" dirty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 11"/>
          <p:cNvSpPr txBox="1"/>
          <p:nvPr/>
        </p:nvSpPr>
        <p:spPr>
          <a:xfrm>
            <a:off x="1097280" y="3593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 sát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1097280" y="386791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Dashboard :8080, Mailpit :8025, webhook-sink</a:t>
            </a:r>
            <a:endParaRPr lang="en-US" sz="11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005840"/>
          <a:ext cx="457200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3063240"/>
                <a:gridCol w="82296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Kiểm tra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Mong đợi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E2E-02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P5 ghi nhận tấn công (top_attacks)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E2E-03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Phát hiện sql_injection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E2E-04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Ghi nhận IP nguồn (top_ips)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E2E-05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Mailpit nhận email cảnh báo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E2E-06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lịch sử cảnh báo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message mới vào dead-letter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= 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E2E-08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internal.local (ngoài scope): số bản ghi trong P5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tăng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2: so sánh với ModSecurity CRS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0,944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2E8F0"/>
                </a:solidFill>
              </a:rPr>
              <a:t>Recall hệ thống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14884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7200" y="22402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0,774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34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Recall CRS 4.25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33756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7200" y="3429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0,004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023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FPR (cả hai)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3017520" y="914400"/>
          <a:ext cx="566928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3017520" y="4370832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Precision 0,985, F1 0,964 (CRS: 0,981 và 0,865). Recall cao hơn CRS ở RFI, command injection, SSTI; thấp hơn ở SQLi, XSS.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 hiệu hành vi bổ sung phần rule bỏ sót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828800"/>
                <a:gridCol w="914400"/>
                <a:gridCol w="914400"/>
                <a:gridCol w="914400"/>
                <a:gridCol w="9144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Cấu hình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Nguồn độc hại bị cảnh báo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Báo nhầm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Payload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 quét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Flood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Trễ trung vị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A: chỉ rule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31/36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2/85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29/30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B: chỉ hành vi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6/36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0/85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 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kết hợp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35/36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2/85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29/30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ModSecurity CRS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34/36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2/85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30/30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15468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640080" y="3310128"/>
            <a:ext cx="411480" cy="4114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 wrap="none" lIns="0" tIns="0" rIns="0" bIns="0" anchor="ctr"/>
          <a:lstStyle/>
          <a:p>
            <a:pPr algn="ctr"/>
            <a:r>
              <a:rPr lang="vi-VN" sz="1300" dirty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 3"/>
          <p:cNvSpPr txBox="1"/>
          <p:nvPr/>
        </p:nvSpPr>
        <p:spPr>
          <a:xfrm>
            <a:off x="1170432" y="334670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 thêm 4 nguồn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82219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2 scanner giả User-Agent và 2 nguồn flood, không thêm báo nhầm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3246120" y="315468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3429000" y="3310128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 wrap="none" lIns="0" tIns="0" rIns="0" bIns="0" anchor="ctr"/>
          <a:lstStyle/>
          <a:p>
            <a:pPr algn="ctr"/>
            <a:r>
              <a:rPr lang="vi-VN" sz="1300" dirty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 7"/>
          <p:cNvSpPr txBox="1"/>
          <p:nvPr/>
        </p:nvSpPr>
        <p:spPr>
          <a:xfrm>
            <a:off x="3959352" y="334670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Báo nhầm duy nhất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3429000" y="382219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Truy vấn ../ relative path docs, nhập nhằng có chủ ý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6035040" y="315468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6217920" y="3310128"/>
            <a:ext cx="411480" cy="4114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 wrap="none" lIns="0" tIns="0" rIns="0" bIns="0" anchor="ctr"/>
          <a:lstStyle/>
          <a:p>
            <a:pPr algn="ctr"/>
            <a:r>
              <a:rPr lang="vi-VN" sz="1300" dirty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 11"/>
          <p:cNvSpPr txBox="1"/>
          <p:nvPr/>
        </p:nvSpPr>
        <p:spPr>
          <a:xfrm>
            <a:off x="6748272" y="334670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15 request bỏ sót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6217920" y="382219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SSTI ${7*7}, XSS ngữ cảnh JS, SQLi ORDER BY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3: kiểm thử tải 20.000 dòng log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14400"/>
          <a:ext cx="51206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852160" y="914400"/>
            <a:ext cx="1353312" cy="1371600"/>
          </a:xfrm>
          <a:prstGeom prst="roundRect">
            <a:avLst>
              <a:gd name="adj" fmla="val 5405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852160" y="1097280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lần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925312" y="169164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2E8F0"/>
                </a:solidFill>
              </a:rPr>
              <a:t>nhanh hơn sau tối ưu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7315200" y="914400"/>
            <a:ext cx="1353312" cy="1371600"/>
          </a:xfrm>
          <a:prstGeom prst="roundRect">
            <a:avLst>
              <a:gd name="adj" fmla="val 540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0" y="1097280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32.468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388352" y="169164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message/s tại C1 (100.000 dòng)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852160" y="2468880"/>
            <a:ext cx="1353312" cy="1371600"/>
          </a:xfrm>
          <a:prstGeom prst="roundRect">
            <a:avLst>
              <a:gd name="adj" fmla="val 540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852160" y="2651760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5.774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5925312" y="324612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message/s tại detector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315200" y="2468880"/>
            <a:ext cx="1353312" cy="1371600"/>
          </a:xfrm>
          <a:prstGeom prst="roundRect">
            <a:avLst>
              <a:gd name="adj" fmla="val 540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315200" y="2651760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7388352" y="324612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message vào dead-letter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114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Điểm nghẽn ban đầu ở C2 (flush và commit từng message, key theo domain nên dữ liệu dồn vào 1 partition). Điểm nghẽn hiện tại là detector, có thể chạy 3 instance cùng group.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luận và hướng phát triển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560320" cy="3108960"/>
          </a:xfrm>
          <a:prstGeom prst="roundRect">
            <a:avLst>
              <a:gd name="adj" fmla="val 2857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0B981"/>
                </a:solidFill>
              </a:rPr>
              <a:t>Đạt được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6596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</a:rPr>
              <a:t>Pipeline realtime từ log tới cảnh báo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</a:rPr>
              <a:t>Rule engine tự viết, RE2, 20 rule thuộc 10 nhóm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</a:rPr>
              <a:t>Recall 0,944 với FPR 0,004; phát hiện 35/36 nguồn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</a:rPr>
              <a:t>20.000 dòng log trong 4,5 giây; 173 unit test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0" y="1371600"/>
            <a:ext cx="2560320" cy="3108960"/>
          </a:xfrm>
          <a:prstGeom prst="roundRect">
            <a:avLst>
              <a:gd name="adj" fmla="val 2857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59E0B"/>
                </a:solidFill>
              </a:rPr>
              <a:t>Hạn chế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96596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</a:rPr>
              <a:t>Không phân tích request body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</a:rPr>
              <a:t>Dữ liệu tổng hợp, quy mô nhỏ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</a:rPr>
              <a:t>Ngưỡng chọn theo kinh nghiệm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</a:rPr>
              <a:t>Kafka PLAINTEXT, một node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</a:rPr>
              <a:t>Bot xoay IP tránh được tín hiệu hành vi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371600"/>
            <a:ext cx="2560320" cy="3108960"/>
          </a:xfrm>
          <a:prstGeom prst="roundRect">
            <a:avLst>
              <a:gd name="adj" fmla="val 2857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8BDF8"/>
                </a:solidFill>
              </a:rPr>
              <a:t>Hướng phát triển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96596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</a:rPr>
              <a:t>Rule cho SSTI ${...}, XSS ngữ cảnh JS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</a:rPr>
              <a:t>Thêm nguồn dữ liệu, học máy cho D3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</a:rPr>
              <a:t>Kafka nhiều broker, SASL/TLS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</a:rPr>
              <a:t>Phản ứng có phê duyệt (dry-run)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</a:rPr>
              <a:t>Tín hiệu theo domain, gộp cảnh báo</a:t>
            </a:r>
            <a:endParaRPr lang="en-US" sz="1300" dirty="0"/>
          </a:p>
        </p:txBody>
      </p:sp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13" name="Text 0"/>
          <p:cNvSpPr/>
          <p:nvPr>
            <p:ph idx="101" type="body" hasCustomPrompt="1"/>
          </p:nvPr>
        </p:nvSpPr>
        <p:spPr>
          <a:xfrm>
            <a:off x="548640" y="29718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rã UC05: phát hiện và chấm điểm</a:t>
            </a:r>
            <a:endParaRPr lang="en-US" sz="2600" dirty="0"/>
          </a:p>
        </p:txBody>
      </p:sp>
      <p:pic>
        <p:nvPicPr>
          <p:cNvPr id="4" name="Phân rã UC05" descr="Phân rã UC0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2486" y="900000"/>
            <a:ext cx="5919027" cy="34300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4390000"/>
            <a:ext cx="8229600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UC05 - 5 nhóm phát hiện theo rule, chấm điểm theo hành vi, DDoS theo domain (extend)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rã UC02: quản lý phạm vi giám sát</a:t>
            </a:r>
            <a:endParaRPr lang="en-US" sz="2600" dirty="0"/>
          </a:p>
        </p:txBody>
      </p:sp>
      <p:pic>
        <p:nvPicPr>
          <p:cNvPr id="4" name="Phân rã UC02" descr="Phân rã UC0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3450" y="900000"/>
            <a:ext cx="6757100" cy="34300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57200" y="4390000"/>
            <a:ext cx="8229600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UC02 - xem, thêm, sửa, bật/tắt, xoá domain trong allowlist; mọi thao tác qua Gateway và JWT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rã UC07, UC08: giám sát và cảnh báo</a:t>
            </a:r>
            <a:endParaRPr lang="en-US" sz="2600" dirty="0"/>
          </a:p>
        </p:txBody>
      </p:sp>
      <p:pic>
        <p:nvPicPr>
          <p:cNvPr id="5" name="Phân rã UC07-08" descr="Phân rã UC07-0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231" y="900000"/>
            <a:ext cx="6965538" cy="343000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57200" y="4390000"/>
            <a:ext cx="8229600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UC07, UC08 - tổng quan, realtime, lịch sử, chi tiết sự kiện, xuất CSV, nhận cảnh báo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AF Signal">
  <a:themeElements>
    <a:clrScheme name="WAF Signal">
      <a:dk1>
        <a:srgbClr val="0F172A"/>
      </a:dk1>
      <a:lt1>
        <a:srgbClr val="FFFFFF"/>
      </a:lt1>
      <a:dk2>
        <a:srgbClr val="1E293B"/>
      </a:dk2>
      <a:lt2>
        <a:srgbClr val="F1F5F9"/>
      </a:lt2>
      <a:accent1>
        <a:srgbClr val="0E7490"/>
      </a:accent1>
      <a:accent2>
        <a:srgbClr val="F59E0B"/>
      </a:accent2>
      <a:accent3>
        <a:srgbClr val="DC2626"/>
      </a:accent3>
      <a:accent4>
        <a:srgbClr val="2563EB"/>
      </a:accent4>
      <a:accent5>
        <a:srgbClr val="10B981"/>
      </a:accent5>
      <a:accent6>
        <a:srgbClr val="64748B"/>
      </a:accent6>
      <a:hlink>
        <a:srgbClr val="0E7490"/>
      </a:hlink>
      <a:folHlink>
        <a:srgbClr val="6D28D9"/>
      </a:folHlink>
    </a:clrScheme>
    <a:fontScheme name="WAF Signa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WAF Log Analyzer</dc:title>
  <dc:subject>PptxGenJS Presentation</dc:subject>
  <dc:creator>Nhóm IT6027</dc:creator>
  <cp:lastModifiedBy>Nhóm IT6027</cp:lastModifiedBy>
  <cp:revision>1</cp:revision>
  <dcterms:created xsi:type="dcterms:W3CDTF">2026-10-15T17:08:15Z</dcterms:created>
  <dcterms:modified xsi:type="dcterms:W3CDTF">2026-10-15T17:08:15Z</dcterms:modified>
</cp:coreProperties>
</file>