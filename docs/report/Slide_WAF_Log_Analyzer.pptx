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2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2101ef6f-a6ae-c54b-5be0-aaffbed92d50}">
          <p14:sldIdLst>
            <p14:sldId id="256"/>
            <p14:sldId id="257"/>
            <p14:sldId id="258"/>
          </p14:sldIdLst>
        </p14:section>
        <p14:section name="Kiến trúc &amp; môi trường" id="{d7f6522f-1fdf-c6e9-a28c-1705be12fe98}">
          <p14:sldIdLst>
            <p14:sldId id="259"/>
            <p14:sldId id="260"/>
            <p14:sldId id="261"/>
            <p14:sldId id="262"/>
            <p14:sldId id="263"/>
          </p14:sldIdLst>
        </p14:section>
        <p14:section name="Use case" id="{8ce96baa-426a-fc7c-2887-b867fe31e3ca}">
          <p14:sldIdLst>
            <p14:sldId id="264"/>
            <p14:sldId id="265"/>
            <p14:sldId id="266"/>
          </p14:sldIdLst>
        </p14:section>
        <p14:section name="Phân tích thiết kế" id="{2171cc13-dc7b-f86b-285d-c5d7e76e9b68}">
          <p14:sldIdLst>
            <p14:sldId id="267"/>
            <p14:sldId id="268"/>
            <p14:sldId id="269"/>
            <p14:sldId id="270"/>
            <p14:sldId id="271"/>
          </p14:sldIdLst>
        </p14:section>
        <p14:section name="Vận hành &amp; kiểm thử" id="{3a5b597e-8568-a477-4d0c-c3fe3d8fe99a}">
          <p14:sldIdLst>
            <p14:sldId id="272"/>
            <p14:sldId id="273"/>
            <p14:sldId id="274"/>
            <p14:sldId id="275"/>
          </p14:sldIdLst>
        </p14:section>
        <p14:section name="Kết luận" id="{5d0b4a44-ac51-1877-a6b0-c82d8167102b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172A"/>
                </a:solidFill>
                <a:latin typeface="+mn-lt"/>
              </a:rPr>
              <a:t>Recall theo nhóm tấn công (270 request payload, seed 1337)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Hệ thống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cmd_inj</c:v>
                  </c:pt>
                  <c:pt idx="1">
                    <c:v>lfi</c:v>
                  </c:pt>
                  <c:pt idx="2">
                    <c:v>log4shell</c:v>
                  </c:pt>
                  <c:pt idx="3">
                    <c:v>path_trav</c:v>
                  </c:pt>
                  <c:pt idx="4">
                    <c:v>rfi</c:v>
                  </c:pt>
                  <c:pt idx="5">
                    <c:v>sens_file</c:v>
                  </c:pt>
                  <c:pt idx="6">
                    <c:v>sqli</c:v>
                  </c:pt>
                  <c:pt idx="7">
                    <c:v>ssti</c:v>
                  </c:pt>
                  <c:pt idx="8">
                    <c:v>xss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0.67</c:v>
                </c:pt>
                <c:pt idx="7">
                  <c:v>0.72</c:v>
                </c:pt>
                <c:pt idx="8">
                  <c:v>0.85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ModSecurity CRS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cmd_inj</c:v>
                  </c:pt>
                  <c:pt idx="1">
                    <c:v>lfi</c:v>
                  </c:pt>
                  <c:pt idx="2">
                    <c:v>log4shell</c:v>
                  </c:pt>
                  <c:pt idx="3">
                    <c:v>path_trav</c:v>
                  </c:pt>
                  <c:pt idx="4">
                    <c:v>rfi</c:v>
                  </c:pt>
                  <c:pt idx="5">
                    <c:v>sens_file</c:v>
                  </c:pt>
                  <c:pt idx="6">
                    <c:v>sqli</c:v>
                  </c:pt>
                  <c:pt idx="7">
                    <c:v>ssti</c:v>
                  </c:pt>
                  <c:pt idx="8">
                    <c:v>xss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0.7</c:v>
                </c:pt>
                <c:pt idx="1">
                  <c:v>1</c:v>
                </c:pt>
                <c:pt idx="2">
                  <c:v>1</c:v>
                </c:pt>
                <c:pt idx="3">
                  <c:v>0.96</c:v>
                </c:pt>
                <c:pt idx="4">
                  <c:v>0</c:v>
                </c:pt>
                <c:pt idx="5">
                  <c:v>1</c:v>
                </c:pt>
                <c:pt idx="6">
                  <c:v>1</c:v>
                </c:pt>
                <c:pt idx="7">
                  <c:v>0.28</c:v>
                </c:pt>
                <c:pt idx="8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172A"/>
                </a:solidFill>
                <a:latin typeface="+mn-lt"/>
              </a:rPr>
              <a:t>Thời gian xử lý hết đợt tải (giây)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Thời gian (s)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Lbls>
            <c:numFmt formatCode="0.0&quot; s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Lần đầu (từng message)</c:v>
                  </c:pt>
                  <c:pt idx="1">
                    <c:v>Bước 1: consume batch</c:v>
                  </c:pt>
                  <c:pt idx="2">
                    <c:v>Bước 2: C1 gửi theo vòng poll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138.2</c:v>
                </c:pt>
                <c:pt idx="1">
                  <c:v>8.8</c:v>
                </c:pt>
                <c:pt idx="2">
                  <c:v>4.5</c:v>
                </c:pt>
              </c:numCache>
            </c:numRef>
          </c:val>
        </c:ser>
        <c:dLbls>
          <c:numFmt formatCode="0.0&quot; s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 đề tài: hệ thống phân tích access log theo thời gian thực để phát hiện và cảnh báo tấn công web.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GET /api/products?id=1' OR '1'='1 đi qua Nginx, C1, C2, C3 rồi detector. Mỗi bước kiểm tra scope; detector khớp SQLI_BOOLEAN_TAUTOLOGY 85 điểm, vượt ngưỡng 70.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BD5E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IT6027 · WAF Log Analyzer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8580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Hệ thống giám sát và phát hiện tấn công web từ access log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971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WAF Log Analyzer · Báo cáo bài tập lớn học phần IT6027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Nhóm thực hiện: ………………………  ·  GVHD: ………………………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Nội dung trình bày</a:t>
            </a:r>
            <a:endParaRPr lang="en-US" sz="2600" dirty="0"/>
          </a:p>
        </p:txBody>
      </p:sp>
      <p:sp>
        <p:nvSpPr>
          <p:cNvPr id="3" name="agenda0"/>
          <p:cNvSpPr/>
          <p:nvPr/>
        </p:nvSpPr>
        <p:spPr>
          <a:xfrm>
            <a:off x="457200" y="114300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5380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3990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1. Kiến trúc &amp; môi trường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80136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Microservice hướng sự kiện, Kafka, 3 stack Docker, OS, thư viện và phiên bản</a:t>
            </a:r>
            <a:endParaRPr lang="en-US" sz="1300" dirty="0"/>
          </a:p>
        </p:txBody>
      </p:sp>
      <p:sp>
        <p:nvSpPr>
          <p:cNvPr id="8" name="agenda1"/>
          <p:cNvSpPr/>
          <p:nvPr/>
        </p:nvSpPr>
        <p:spPr>
          <a:xfrm>
            <a:off x="4663440" y="114300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92040" y="141732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741" y="153802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23560" y="13990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2. Use case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623560" y="180136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Biểu đồ tổng quan và phân rã các chức năng chính</a:t>
            </a:r>
            <a:endParaRPr lang="en-US" sz="1300" dirty="0"/>
          </a:p>
        </p:txBody>
      </p:sp>
      <p:sp>
        <p:nvSpPr>
          <p:cNvPr id="13" name="agenda2"/>
          <p:cNvSpPr/>
          <p:nvPr/>
        </p:nvSpPr>
        <p:spPr>
          <a:xfrm>
            <a:off x="457200" y="283464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85800" y="310896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322966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0906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3. Phân tích thiết kế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417320" y="349300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Luồng phát hiện SQLi: sơ đồ tuần tự, hoạt động, CSDL</a:t>
            </a:r>
            <a:endParaRPr lang="en-US" sz="1300" dirty="0"/>
          </a:p>
        </p:txBody>
      </p:sp>
      <p:sp>
        <p:nvSpPr>
          <p:cNvPr id="18" name="agenda3"/>
          <p:cNvSpPr/>
          <p:nvPr/>
        </p:nvSpPr>
        <p:spPr>
          <a:xfrm>
            <a:off x="4663440" y="283464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92040" y="310896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741" y="322966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23560" y="30906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4. Vận hành · kiểm thử · đo đạc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5623560" y="349300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E2E, độ chính xác so với ModSecurity CRS, kiểm thử tải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Bài toán và mục tiêu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Access log là nguồn dữ liệu sẵn có, không cần sửa ứng dụng, để nhận diện SQLi, XSS, Path Traversal…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Thu thập log liên tục (tail), không nạp file thủ công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Rule engine tự viết – không dùng lại OWASP CRS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Chấm điểm bất thường: rule + tín hiệu hành vi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Cảnh báo theo domain, dashboard realtime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Chỉ phát hiện &amp; cảnh báo – không tự chặn IP; chỉ xử lý domain trong scope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577840" y="1097280"/>
            <a:ext cx="146304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577840" y="12801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577840" y="19933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rule tự viết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178040" y="1097280"/>
            <a:ext cx="146304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178040" y="12801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7178040" y="19933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nhóm tấn công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2697480"/>
            <a:ext cx="146304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577840" y="28803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35935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service / module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78040" y="2697480"/>
            <a:ext cx="146304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178040" y="28803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153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35935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unit test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tổng thể – microservice hướng sự kiện</a:t>
            </a:r>
            <a:endParaRPr lang="en-US" sz="2600" dirty="0"/>
          </a:p>
        </p:txBody>
      </p:sp>
      <p:pic>
        <p:nvPicPr>
          <p:cNvPr id="3" name="Sơ đồ kiến trúc" descr="Sơ đồ kiến trú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4237"/>
            <a:ext cx="5760720" cy="351508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0" y="1005840"/>
            <a:ext cx="2286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</a:rPr>
              <a:t>6 tầng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Nguồn log → Thu thập → Event bus → Phát hiện → Nền tảng → Dữ liệu</a:t>
            </a:r>
            <a:endParaRPr lang="en-US" sz="125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</a:rPr>
              <a:t>Kafka làm xương sống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Topic = tên sự kiện, key domain|src_ip, at-least-once</a:t>
            </a:r>
            <a:endParaRPr lang="en-US" sz="125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</a:rPr>
              <a:t>Ràng buộc scope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C1–C3 và detector gọi GET /scope/check trước khi xử lý (fail-closed)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Luồng sự kiện qua Kafka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3258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556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Ingestion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4825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tail log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1719072"/>
            <a:ext cx="292608" cy="27432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25880" y="26060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log.raw.ingested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57984" y="1234440"/>
            <a:ext cx="13258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157984" y="13258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157984" y="17556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Parser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157984" y="204825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chuẩn hoá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29584" y="1719072"/>
            <a:ext cx="292608" cy="27432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26664" y="26060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log.normalized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58768" y="1234440"/>
            <a:ext cx="13258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858768" y="13258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858768" y="17556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Enrichment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858768" y="204825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GeoIP · phiên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30368" y="1719072"/>
            <a:ext cx="292608" cy="27432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27448" y="26060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log.enriched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559552" y="1234440"/>
            <a:ext cx="132588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5559552" y="13258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D1+D3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559552" y="17556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Detector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559552" y="204825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rule + điểm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31152" y="1719072"/>
            <a:ext cx="292608" cy="27432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28232" y="26060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alert.triggered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attack.detected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260336" y="1234440"/>
            <a:ext cx="13258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260336" y="13258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 · P5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260336" y="17556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Alert · Dash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260336" y="204825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email · SSE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246120"/>
            <a:ext cx="8229600" cy="1325880"/>
          </a:xfrm>
          <a:prstGeom prst="roundRect">
            <a:avLst>
              <a:gd name="adj" fmla="val 5517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85800" y="3383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Envelope thống nhất: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event, event_id, schema_version, request_id | session_id, timestamp, source, domain, data }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Kafka 4.1 KRaft · 3 partition/topic sự kiện · retention 3 ngày ·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rules.changed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 (compacted) ·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waf.deadletter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 (7 ngày)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Commit offset chỉ sau khi broker xác nhận mọi output → at-least-once; event_id do detector sinh xác định theo input → không trùng khi xử lý lại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triển khai: 3 stack độc lập + giám sát</a:t>
            </a:r>
            <a:endParaRPr lang="en-US" sz="2600" dirty="0"/>
          </a:p>
        </p:txBody>
      </p:sp>
      <p:pic>
        <p:nvPicPr>
          <p:cNvPr id="3" name="Sơ đồ triển khai" descr="Sơ đồ triển kh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817" y="914400"/>
            <a:ext cx="7124366" cy="32461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up</a:t>
            </a:r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 – demo 1 stack   ·   </a:t>
            </a:r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deploy-up</a:t>
            </a:r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 – 3 stack   ·   </a:t>
            </a:r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obs-up</a:t>
            </a:r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 – Grafana   ·   </a:t>
            </a:r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server-up</a:t>
            </a:r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 – server thật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Môi trường triển khai: hệ điều hành và runtime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51206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32588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Mức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Thành phần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Hệ điều hành / phiên bản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Máy chủ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64-bit (Ubuntu 22.04/24.04 LTS) + Docker Engine; hoặc macOS / Windows (WSL2) + Docker Desktop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(đo)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Máy thực nghiệm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macOS, Apple M4 (arm64) · Docker Desktop 10 CPU / 8 GB RAM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C1–C3, P1–P5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Debian GNU/Linux – python:3.12-slim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detector, rule-api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LTS – eclipse-temurin:17-jre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nginx, gateway, postgres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Alpine Linux – nginx:1.28-alpine, postgres:17-alpine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960120"/>
            <a:ext cx="2834640" cy="3611880"/>
          </a:xfrm>
          <a:prstGeom prst="roundRect">
            <a:avLst>
              <a:gd name="adj" fmla="val 258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035040" y="10789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Runtime &amp; công cụ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Python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1508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3.12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19842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Java (Temurin)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1984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17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245973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Maven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245973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3.9.11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035040" y="293522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Docker Compose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589520" y="29352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≥ 2.30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035040" y="34107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Kafka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589520" y="34107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4.1.0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035040" y="3886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PostgreSQL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589520" y="3886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17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1605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Tiện ích: make, curl, jq, openssl · Redocly CLI 1.34.5 · GeoIP DB-IP City Lite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Thư viện, công cụ và phiên bản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265176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9601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Thư viện Python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Phiên bản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confluent-kafka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2.16.0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0.115.5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uvicorn[standard]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psycopg[binary] / pool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3.2.3 / 3.2.4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PyJWT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2.10.1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geoip2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PyYAML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jsonschema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4.23.0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prometheus-client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0" y="960120"/>
          <a:ext cx="256032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8686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Thư viện Java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Phiên bản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kafka-clients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jackson-databind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2.20.1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jackson-dataformat-yaml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2.20.1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re2j (regex RE2)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junit-jupiter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5.14.1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960120"/>
          <a:ext cx="26517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2801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 tầng / công cụ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Phiên bản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Nginx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1.28-alpine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Mailpit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v1.27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Swagger UI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v5.27.1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UI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v1.4.2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v3.1.0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Grafana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Loki / Promtail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kafka-exporter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v1.9.0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ModSecurity CRS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4.25.2 (đối chứng)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3291840" y="3017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E7490"/>
                </a:solidFill>
              </a:rPr>
              <a:t>Mọi phiên bản được ghim cố định trong requirements.txt, pom.xml và docker-compose.yml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Biểu đồ use case tổng quan</a:t>
            </a:r>
            <a:endParaRPr lang="en-US" sz="2600" dirty="0"/>
          </a:p>
        </p:txBody>
      </p:sp>
      <p:pic>
        <p:nvPicPr>
          <p:cNvPr id="3" name="Use case tổng quan" descr="Use case tổng qu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870" y="868680"/>
            <a:ext cx="4798499" cy="3886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309360" y="1097280"/>
            <a:ext cx="2377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</a:rPr>
              <a:t>4 tác nhân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Chuyên viên SOC, Quản trị viên (kế thừa SOC), Web server, Kênh nhận cảnh báo</a:t>
            </a:r>
            <a:endParaRPr lang="en-US" sz="125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</a:rPr>
              <a:t>10 use case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UC02, 03, 07, 08, 09 «include» UC01 Đăng nhập (JWT)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UC04 «include» UC05; UC06 «extend» UC05 khi điểm ≥ ngưỡng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rã use case: quản lý rule và phát hiện tấn công</a:t>
            </a:r>
            <a:endParaRPr lang="en-US" sz="2600" dirty="0"/>
          </a:p>
        </p:txBody>
      </p:sp>
      <p:pic>
        <p:nvPicPr>
          <p:cNvPr id="3" name="Phân rã UC03" descr="Phân rã UC0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89512"/>
            <a:ext cx="4114800" cy="1941616"/>
          </a:xfrm>
          <a:prstGeom prst="rect">
            <a:avLst/>
          </a:prstGeom>
        </p:spPr>
      </p:pic>
      <p:pic>
        <p:nvPicPr>
          <p:cNvPr id="4" name="Phân rã UC05" descr="Phân rã UC05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68083"/>
            <a:ext cx="4114800" cy="238447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65760" y="4251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UC03 – CRUD rule, validate RE2, phát snapshot rules.changed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4663440" y="4251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UC05 – 5 nhóm phát hiện, chấm điểm hành vi, DDoS (extend)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rã use case: thu thập log, phạm vi và giám sát</a:t>
            </a:r>
            <a:endParaRPr lang="en-US" sz="2600" dirty="0"/>
          </a:p>
        </p:txBody>
      </p:sp>
      <p:pic>
        <p:nvPicPr>
          <p:cNvPr id="3" name="Phân rã UC04" descr="Phân rã UC0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24206"/>
            <a:ext cx="3108960" cy="1780789"/>
          </a:xfrm>
          <a:prstGeom prst="rect">
            <a:avLst/>
          </a:prstGeom>
        </p:spPr>
      </p:pic>
      <p:pic>
        <p:nvPicPr>
          <p:cNvPr id="4" name="Phân rã UC02" descr="Phân rã UC0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992649"/>
            <a:ext cx="2377440" cy="1043901"/>
          </a:xfrm>
          <a:prstGeom prst="rect">
            <a:avLst/>
          </a:prstGeom>
        </p:spPr>
      </p:pic>
      <p:pic>
        <p:nvPicPr>
          <p:cNvPr id="5" name="Phân rã UC07-08" descr="Phân rã UC07-08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906351"/>
            <a:ext cx="2926080" cy="1216498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274320" y="4206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UC04 – Thu thập &amp; chuẩn hoá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3474720" y="4206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UC02 – Phạm vi giám sát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5943600" y="4206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UC07/08 – Giám sát, cảnh báo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Sơ đồ tuần tự (a): phát hiện SQL Injection</a:t>
            </a:r>
            <a:endParaRPr lang="en-US" sz="2600" dirty="0"/>
          </a:p>
        </p:txBody>
      </p:sp>
      <p:pic>
        <p:nvPicPr>
          <p:cNvPr id="3" name="Sơ đồ tuần tự a" descr="Sơ đồ tuần tự 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69" y="868680"/>
            <a:ext cx="7580263" cy="3840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Sơ đồ tuần tự (b): cảnh báo và hiển thị realtime</a:t>
            </a:r>
            <a:endParaRPr lang="en-US" sz="2600" dirty="0"/>
          </a:p>
        </p:txBody>
      </p:sp>
      <p:pic>
        <p:nvPicPr>
          <p:cNvPr id="3" name="Sơ đồ tuần tự b" descr="Sơ đồ tuần tự 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54763"/>
            <a:ext cx="6035040" cy="286831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83680" y="1005840"/>
            <a:ext cx="2103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</a:rPr>
              <a:t>Hai nhánh song song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P4 và P5 là hai consumer group độc lập</a:t>
            </a:r>
            <a:endParaRPr lang="en-US" sz="125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</a:rPr>
              <a:t>P4 Alerting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Ngưỡng theo domain, cooldown (domain, IP, loại) → email + webhook</a:t>
            </a:r>
            <a:endParaRPr lang="en-US" sz="125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</a:rPr>
              <a:t>P5 Dashboard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Lưu detection.attacks, đẩy SSE; truy cập qua Gateway + JWT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Sơ đồ hoạt động (swimlane theo service)</a:t>
            </a:r>
            <a:endParaRPr lang="en-US" sz="2600" dirty="0"/>
          </a:p>
        </p:txBody>
      </p:sp>
      <p:pic>
        <p:nvPicPr>
          <p:cNvPr id="3" name="Sơ đồ hoạt động" descr="Sơ đồ hoạt độ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075" y="868680"/>
            <a:ext cx="3551290" cy="3886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0" y="100584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9326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Domain thuộc scope?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120640" y="12435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Không → bỏ qua, vẫn commit offset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0" y="1764792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0" y="1764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120640" y="16916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Parse được dòng log?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120640" y="20025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Không → waf.deadletter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0" y="2523744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0" y="25237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120640" y="24505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Có rule khớp?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120640" y="27614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Có → attack.detected (mỗi rule 1 sự kiện)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0" y="3282696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0" y="32826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120640" y="320954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Điểm ≥ 70 &amp; qua cooldown 15 s?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120640" y="35204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Có → alert.triggered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0" y="4041648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0" y="40416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120640" y="39684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Vượt ngưỡng domain (P4)?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120640" y="42793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Có → lưu + email/webhook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kế cơ sở dữ liệu</a:t>
            </a:r>
            <a:endParaRPr lang="en-US" sz="2600" dirty="0"/>
          </a:p>
        </p:txBody>
      </p:sp>
      <p:pic>
        <p:nvPicPr>
          <p:cNvPr id="3" name="ERD" descr="E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564" y="868680"/>
            <a:ext cx="7408873" cy="32461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PostgreSQL 17 · mỗi module một schema riêng · quan hệ logic (không FK cứng) vì bảng do service khác nhau ghi bất đồng bộ từ Kafka · rules lưu ở rules.json + topic compacted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Thuật toán chấm điểm bất thường (D3)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 · 85 · 65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27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Rule khớp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653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điểm cao nhất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29000" y="1143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627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Rule khớp thêm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8653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mỗi rule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10058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17920" y="1143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627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request_burst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8653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≥ 20 req / 60 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0080" y="2468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+40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953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request_flood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1912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≥ 100 req / 60 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46120" y="23317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429000" y="2468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+25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2953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http_error_burst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1912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≥ 8 lỗi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35040" y="23317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217920" y="2468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+25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2953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path_scan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1912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≥ 12 path khác nhau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3730752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Tổng chặn ở 100 · cảnh báo khi ≥ 70.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Không cần payload vẫn bắt được: dò quét 30 + 25 + 25 = 80, flood một nguồn 30 + 40 = 70. Regex RE2 thời gian tuyến tính → không ReDoS.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Kịch bản 1: vận hành và kiểm thử end-to-end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02920" cy="5029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842" y="1116482"/>
            <a:ext cx="281635" cy="28163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987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up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126187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Build &amp; khởi động toàn bộ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187452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42" y="1985162"/>
            <a:ext cx="281635" cy="28163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demo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097280" y="21305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Gửi request thật: bình thường, SQLi, XSS, PT, CI, LFI/RFI, Log4Shell…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57200" y="274320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42" y="2853842"/>
            <a:ext cx="281635" cy="28163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2724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e2e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1097280" y="29992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Nghiệm thu tự động (chờ tối đa 45 s)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57200" y="361188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842" y="3722522"/>
            <a:ext cx="281635" cy="28163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97280" y="3593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sát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1097280" y="38679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Dashboard :8080 · Mailpit :8025 · webhook-sink</a:t>
            </a:r>
            <a:endParaRPr lang="en-US" sz="11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005840"/>
          <a:ext cx="457200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3063240"/>
                <a:gridCol w="8229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Kiểm tra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 đợi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 ghi nhận tấn công (top_attacks)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Phát hiện sql_injection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E2E-04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Ghi nhận IP nguồn (top_ips)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E2E-05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Mailpit nhận email cảnh báo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E2E-06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 lịch sử cảnh báo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E2E-07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message mới vào dead-letter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E2E-08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internal.local (ngoài scope) không xuất hiện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đạt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Kịch bản 2: đo độ chính xác so với ModSecurity + CRS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0,944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Recall hệ thống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7200" y="22402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0,774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Recall CRS 4.25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" y="3429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0,004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023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FPR (cả hai)</a:t>
            </a:r>
            <a:endParaRPr lang="en-US" sz="1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3017520" y="914400"/>
          <a:ext cx="56692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3017520" y="437083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Precision 0,985 · F1 0,964 (CRS: 0,981 · 0,865). Hơn CRS ở RFI, command injection, SSTI; kém ở SQLi, XSS.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Tín hiệu hành vi bổ sung đúng phần rule không thấy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828800"/>
                <a:gridCol w="914400"/>
                <a:gridCol w="914400"/>
                <a:gridCol w="914400"/>
                <a:gridCol w="91440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Cấu hình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Nguồn độc hại bị cảnh báo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Báo nhầm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Dò quét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Trễ trung vị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– chỉ 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31/36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29/30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– chỉ hành vi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– kết hợp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35/36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29/30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ModSecurity CRS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34/36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1546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40080" y="3310128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6" y="3400654"/>
            <a:ext cx="230429" cy="23042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70432" y="334670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 so với A: +4 nguồn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382219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2 scanner giả User-Agent + 2 flood, không thêm báo nhầm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3246120" y="31546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429000" y="3310128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526" y="3400654"/>
            <a:ext cx="230429" cy="23042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959352" y="334670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Báo nhầm duy nhất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3429000" y="382219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Truy vấn "../ relative path docs" – nhập nhằng chủ ý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035040" y="31546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217920" y="3310128"/>
            <a:ext cx="411480" cy="4114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446" y="3400654"/>
            <a:ext cx="230429" cy="230429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48272" y="334670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15 request bỏ sót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6217920" y="382219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SSTI ${7*7}, XSS ngữ cảnh JS, SQLi ORDER BY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Kịch bản 3: kiểm thử tải 20.000 dòng log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914400"/>
            <a:ext cx="1353312" cy="137160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852160" y="109728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~30×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925312" y="169164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nhanh hơn sau tối ưu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0" y="914400"/>
            <a:ext cx="1353312" cy="1371600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15200" y="109728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32.468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7388352" y="169164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msg/s tại C1 (100k dòng)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52160" y="2468880"/>
            <a:ext cx="1353312" cy="1371600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852160" y="265176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5.774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5925312" y="324612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msg/s tại detector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15200" y="2468880"/>
            <a:ext cx="1353312" cy="1371600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315200" y="265176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7388352" y="324612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message vào dead-letter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Nghẽn ban đầu tại C2 (flush + commit từng message, key theo domain dồn 1 partition). Điểm nghẽn hiện tại: detector – có thể chạy 3 instance cùng group.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 và hướng phát triển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</a:rPr>
              <a:t>Đạt được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Pipeline realtime log → cảnh báo → dashboard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Rule engine tự viết, RE2, 20 rule / 10 nhóm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Recall 0,944 @ FPR 0,004; 35/36 nguồn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20k dòng log trong 4,5 s; 153 unit test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</a:rPr>
              <a:t>Hạn chế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96596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Không thấy request body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Dữ liệu tổng hợp, quy mô nhỏ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Ngưỡng chọn theo kinh nghiệm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Kafka PLAINTEXT, một node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</a:rPr>
              <a:t>Hướng phát triển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96596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Rule cho SSTI ${…}, XSS ngữ cảnh JS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Thêm nguồn dữ liệu, học máy cho D3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Kafka nhiều broker, SASL/TLS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Phản ứng có phê duyệt (dry-run)</a:t>
            </a:r>
            <a:endParaRPr lang="en-US" sz="1300" dirty="0"/>
          </a:p>
        </p:txBody>
      </p:sp>
      <p:sp>
        <p:nvSpPr>
          <p:cNvPr id="1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13" name="Text 0"/>
          <p:cNvSpPr/>
          <p:nvPr>
            <p:ph idx="101" type="body" hasCustomPrompt="1"/>
          </p:nvPr>
        </p:nvSpPr>
        <p:spPr>
          <a:xfrm>
            <a:off x="548640" y="2971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F Signal">
  <a:themeElements>
    <a:clrScheme name="WAF Signal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0E7490"/>
      </a:accent1>
      <a:accent2>
        <a:srgbClr val="F59E0B"/>
      </a:accent2>
      <a:accent3>
        <a:srgbClr val="DC2626"/>
      </a:accent3>
      <a:accent4>
        <a:srgbClr val="2563EB"/>
      </a:accent4>
      <a:accent5>
        <a:srgbClr val="10B981"/>
      </a:accent5>
      <a:accent6>
        <a:srgbClr val="64748B"/>
      </a:accent6>
      <a:hlink>
        <a:srgbClr val="0E7490"/>
      </a:hlink>
      <a:folHlink>
        <a:srgbClr val="6D28D9"/>
      </a:folHlink>
    </a:clrScheme>
    <a:fontScheme name="WAF Sig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WAF Log Analyzer</dc:title>
  <dc:subject>PptxGenJS Presentation</dc:subject>
  <dc:creator>Nhóm IT6027</dc:creator>
  <cp:lastModifiedBy>Nhóm IT6027</cp:lastModifiedBy>
  <cp:revision>1</cp:revision>
  <dcterms:created xsi:type="dcterms:W3CDTF">2026-10-15T17:08:15Z</dcterms:created>
  <dcterms:modified xsi:type="dcterms:W3CDTF">2026-10-15T17:08:15Z</dcterms:modified>
</cp:coreProperties>
</file>