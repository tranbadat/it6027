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1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2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77" r:id="rId28"/>
    <p:sldId id="266" r:id="rId12"/>
    <p:sldId id="278" r:id="rId29"/>
    <p:sldId id="279" r:id="rId30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Mở đầu" id="{2101ef6f-a6ae-c54b-5be0-aaffbed92d50}">
          <p14:sldIdLst>
            <p14:sldId id="256"/>
            <p14:sldId id="257"/>
            <p14:sldId id="258"/>
          </p14:sldIdLst>
        </p14:section>
        <p14:section name="Kiến trúc &amp; môi trường" id="{d7f6522f-1fdf-c6e9-a28c-1705be12fe98}">
          <p14:sldIdLst>
            <p14:sldId id="259"/>
            <p14:sldId id="260"/>
            <p14:sldId id="261"/>
            <p14:sldId id="262"/>
            <p14:sldId id="263"/>
          </p14:sldIdLst>
        </p14:section>
        <p14:section name="Use case" id="{8ce96baa-426a-fc7c-2887-b867fe31e3ca}">
          <p14:sldIdLst>
            <p14:sldId id="264"/>
            <p14:sldId id="265"/>
            <p14:sldId id="266"/>
          </p14:sldIdLst>
        </p14:section>
        <p14:section name="Phân tích thiết kế" id="{2171cc13-dc7b-f86b-285d-c5d7e76e9b68}">
          <p14:sldIdLst>
            <p14:sldId id="267"/>
            <p14:sldId id="268"/>
            <p14:sldId id="269"/>
            <p14:sldId id="270"/>
            <p14:sldId id="271"/>
          </p14:sldIdLst>
        </p14:section>
        <p14:section name="Vận hành &amp; kiểm thử" id="{3a5b597e-8568-a477-4d0c-c3fe3d8fe99a}">
          <p14:sldIdLst>
            <p14:sldId id="272"/>
            <p14:sldId id="273"/>
            <p14:sldId id="274"/>
            <p14:sldId id="275"/>
          </p14:sldIdLst>
        </p14:section>
        <p14:section name="Kết luận" id="{5d0b4a44-ac51-1877-a6b0-c82d8167102b}">
          <p14:sldIdLst>
            <p14:sldId id="27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  <Relationship Id="rId28" Type="http://schemas.openxmlformats.org/officeDocument/2006/relationships/slide" Target="slides/slide22.xml"/>
  <Relationship Id="rId29" Type="http://schemas.openxmlformats.org/officeDocument/2006/relationships/slide" Target="slides/slide23.xml"/>
  <Relationship Id="rId30" Type="http://schemas.openxmlformats.org/officeDocument/2006/relationships/slide" Target="slides/slide24.xml"/>
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F172A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0F172A"/>
                </a:solidFill>
                <a:latin typeface="+mn-lt"/>
              </a:rPr>
              <a:t>Recall theo nhóm tấn công (270 request payload, seed 1337)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Hệ thống</c:v>
                </c:pt>
              </c:strCache>
            </c:strRef>
          </c:tx>
          <c:spPr>
            <a:solidFill>
              <a:srgbClr val="0E749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cmd_inj</c:v>
                  </c:pt>
                  <c:pt idx="1">
                    <c:v>lfi</c:v>
                  </c:pt>
                  <c:pt idx="2">
                    <c:v>log4shell</c:v>
                  </c:pt>
                  <c:pt idx="3">
                    <c:v>path_trav</c:v>
                  </c:pt>
                  <c:pt idx="4">
                    <c:v>rfi</c:v>
                  </c:pt>
                  <c:pt idx="5">
                    <c:v>sens_file</c:v>
                  </c:pt>
                  <c:pt idx="6">
                    <c:v>sqli</c:v>
                  </c:pt>
                  <c:pt idx="7">
                    <c:v>ssti</c:v>
                  </c:pt>
                  <c:pt idx="8">
                    <c:v>xss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1</c:v>
                </c:pt>
                <c:pt idx="5">
                  <c:v>1</c:v>
                </c:pt>
                <c:pt idx="6">
                  <c:v>0.67</c:v>
                </c:pt>
                <c:pt idx="7">
                  <c:v>0.72</c:v>
                </c:pt>
                <c:pt idx="8">
                  <c:v>0.85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ModSecurity CRS</c:v>
                </c:pt>
              </c:strCache>
            </c:strRef>
          </c:tx>
          <c:spPr>
            <a:solidFill>
              <a:srgbClr val="94A3B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cmd_inj</c:v>
                  </c:pt>
                  <c:pt idx="1">
                    <c:v>lfi</c:v>
                  </c:pt>
                  <c:pt idx="2">
                    <c:v>log4shell</c:v>
                  </c:pt>
                  <c:pt idx="3">
                    <c:v>path_trav</c:v>
                  </c:pt>
                  <c:pt idx="4">
                    <c:v>rfi</c:v>
                  </c:pt>
                  <c:pt idx="5">
                    <c:v>sens_file</c:v>
                  </c:pt>
                  <c:pt idx="6">
                    <c:v>sqli</c:v>
                  </c:pt>
                  <c:pt idx="7">
                    <c:v>ssti</c:v>
                  </c:pt>
                  <c:pt idx="8">
                    <c:v>xss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0.7</c:v>
                </c:pt>
                <c:pt idx="1">
                  <c:v>1</c:v>
                </c:pt>
                <c:pt idx="2">
                  <c:v>1</c:v>
                </c:pt>
                <c:pt idx="3">
                  <c:v>0.96</c:v>
                </c:pt>
                <c:pt idx="4">
                  <c:v>0</c:v>
                </c:pt>
                <c:pt idx="5">
                  <c:v>1</c:v>
                </c:pt>
                <c:pt idx="6">
                  <c:v>1</c:v>
                </c:pt>
                <c:pt idx="7">
                  <c:v>0.28</c:v>
                </c:pt>
                <c:pt idx="8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F172A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0F172A"/>
                </a:solidFill>
                <a:latin typeface="+mn-lt"/>
              </a:rPr>
              <a:t>Thời gian xử lý hết đợt tải (giây)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Thời gian (s)</c:v>
                </c:pt>
              </c:strCache>
            </c:strRef>
          </c:tx>
          <c:spPr>
            <a:solidFill>
              <a:srgbClr val="0E7490"/>
            </a:solidFill>
            <a:effectLst/>
          </c:spPr>
          <c:invertIfNegative val="0"/>
          <c:dLbls>
            <c:numFmt formatCode="0.0&quot; s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F17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Lần đầu (từng message)</c:v>
                  </c:pt>
                  <c:pt idx="1">
                    <c:v>Bước 1: consume batch</c:v>
                  </c:pt>
                  <c:pt idx="2">
                    <c:v>Bước 2: C1 gửi theo vòng poll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138.2</c:v>
                </c:pt>
                <c:pt idx="1">
                  <c:v>8.8</c:v>
                </c:pt>
                <c:pt idx="2">
                  <c:v>4.5</c:v>
                </c:pt>
              </c:numCache>
            </c:numRef>
          </c:val>
        </c:ser>
        <c:dLbls>
          <c:numFmt formatCode="0.0&quot; s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0F17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75569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Giới thiệu đề tài: hệ thống phân tích access log theo thời gian thực để phát hiện và cảnh báo tấn công web.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Request GET /api/products?id=1' OR '1'='1 đi qua Nginx, C1, C2, C3 rồi detector. Mỗi bước kiểm tra scope; detector khớp SQLI_BOOLEAN_TAUTOLOGY 85 điểm, vượt ngưỡng 70.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63040"/>
            <a:ext cx="804672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971800"/>
            <a:ext cx="80467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CBD5E1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48006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IT6027 - WAF Log Analyzer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3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3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82296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Hệ thống giám sát và phát hiện tấn công web từ access log</a:t>
            </a:r>
            <a:endParaRPr lang="en-US" sz="36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228600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vi-VN" sz="1600" dirty="0">
                <a:solidFill>
                  <a:srgbClr val="CBD5E1"/>
                </a:solidFill>
                <a:latin typeface="Arial"/>
              </a:rPr>
              <a:t>WAF Log Analyzer</a:t>
            </a:r>
          </a:p>
          <a:p>
            <a:pPr algn="l" indent="0" marL="0">
              <a:spcBef>
                <a:spcPts val="300"/>
              </a:spcBef>
              <a:buNone/>
            </a:pPr>
            <a:r>
              <a:rPr lang="vi-VN" sz="1600" dirty="0">
                <a:solidFill>
                  <a:srgbClr val="CBD5E1"/>
                </a:solidFill>
                <a:latin typeface="Arial"/>
              </a:rPr>
              <a:t>Báo cáo bài tập lớn môn Chính sách và Quản trị An ninh mạng (IT6027)</a:t>
            </a:r>
          </a:p>
          <a:p>
            <a:pPr algn="l" indent="0" marL="0">
              <a:spcBef>
                <a:spcPts val="300"/>
              </a:spcBef>
              <a:buNone/>
            </a:pPr>
            <a:r>
              <a:rPr lang="vi-VN" sz="1600" dirty="0">
                <a:solidFill>
                  <a:srgbClr val="CBD5E1"/>
                </a:solidFill>
                <a:latin typeface="Arial"/>
              </a:rPr>
              <a:t>Đại học Bách Khoa Hà Nội, tháng 10/2026</a:t>
            </a:r>
          </a:p>
        </p:txBody>
      </p:sp>
      <p:sp>
        <p:nvSpPr>
          <p:cNvPr id="5" name="Text 2"/>
          <p:cNvSpPr txBox="1"/>
          <p:nvPr/>
        </p:nvSpPr>
        <p:spPr>
          <a:xfrm>
            <a:off x="548640" y="3611880"/>
            <a:ext cx="8046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vi-VN" sz="1300" dirty="0">
                <a:solidFill>
                  <a:srgbClr val="94A3B8"/>
                </a:solidFill>
                <a:latin typeface="Arial"/>
              </a:rPr>
              <a:t>Giảng viên hướng dẫn: TS. Nguyễn Đức Toàn, TS. Lê Xuân Thành</a:t>
            </a:r>
          </a:p>
          <a:p>
            <a:pPr algn="l" indent="0" marL="0">
              <a:spcBef>
                <a:spcPts val="300"/>
              </a:spcBef>
              <a:buNone/>
            </a:pPr>
            <a:r>
              <a:rPr lang="vi-VN" sz="1300" dirty="0">
                <a:solidFill>
                  <a:srgbClr val="94A3B8"/>
                </a:solidFill>
                <a:latin typeface="Arial"/>
              </a:rPr>
              <a:t>Sinh viên: Trần Bá Đạt (20252129M), Nguyễn Thị Phương Liên (20252130M), Ngô Hoàng Xuân Hải (20252042M)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Nội dung trình bày</a:t>
            </a:r>
            <a:endParaRPr lang="en-US" sz="2600" dirty="0"/>
          </a:p>
        </p:txBody>
      </p:sp>
      <p:sp>
        <p:nvSpPr>
          <p:cNvPr id="3" name="agenda0"/>
          <p:cNvSpPr/>
          <p:nvPr/>
        </p:nvSpPr>
        <p:spPr>
          <a:xfrm>
            <a:off x="457200" y="1143000"/>
            <a:ext cx="3931920" cy="1463040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85800" y="1417320"/>
            <a:ext cx="548640" cy="548640"/>
          </a:xfrm>
          <a:prstGeom prst="ellipse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 wrap="none" lIns="0" tIns="0" rIns="0" bIns="0" anchor="ctr"/>
          <a:lstStyle/>
          <a:p>
            <a:pPr algn="ctr"/>
            <a:r>
              <a:rPr lang="vi-VN" sz="1600" dirty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 3"/>
          <p:cNvSpPr txBox="1"/>
          <p:nvPr/>
        </p:nvSpPr>
        <p:spPr>
          <a:xfrm>
            <a:off x="1417320" y="139903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Kiến trúc và môi trường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1417320" y="1801368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Microservice hướng sự kiện, Kafka, 3 stack Docker, OS, thư viện và phiên bản</a:t>
            </a:r>
            <a:endParaRPr lang="en-US" sz="1300" dirty="0"/>
          </a:p>
        </p:txBody>
      </p:sp>
      <p:sp>
        <p:nvSpPr>
          <p:cNvPr id="8" name="agenda1"/>
          <p:cNvSpPr/>
          <p:nvPr/>
        </p:nvSpPr>
        <p:spPr>
          <a:xfrm>
            <a:off x="4663440" y="1143000"/>
            <a:ext cx="3931920" cy="1463040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892040" y="1417320"/>
            <a:ext cx="548640" cy="54864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 wrap="none" lIns="0" tIns="0" rIns="0" bIns="0" anchor="ctr"/>
          <a:lstStyle/>
          <a:p>
            <a:pPr algn="ctr"/>
            <a:r>
              <a:rPr lang="vi-VN" sz="1600" dirty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Text 7"/>
          <p:cNvSpPr txBox="1"/>
          <p:nvPr/>
        </p:nvSpPr>
        <p:spPr>
          <a:xfrm>
            <a:off x="5623560" y="139903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Use case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5623560" y="1801368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Biểu đồ tổng quan và phân rã các chức năng chính</a:t>
            </a:r>
            <a:endParaRPr lang="en-US" sz="1300" dirty="0"/>
          </a:p>
        </p:txBody>
      </p:sp>
      <p:sp>
        <p:nvSpPr>
          <p:cNvPr id="13" name="agenda2"/>
          <p:cNvSpPr/>
          <p:nvPr/>
        </p:nvSpPr>
        <p:spPr>
          <a:xfrm>
            <a:off x="457200" y="2834640"/>
            <a:ext cx="3931920" cy="1463040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85800" y="3108960"/>
            <a:ext cx="548640" cy="5486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 wrap="none" lIns="0" tIns="0" rIns="0" bIns="0" anchor="ctr"/>
          <a:lstStyle/>
          <a:p>
            <a:pPr algn="ctr"/>
            <a:r>
              <a:rPr lang="vi-VN" sz="1600" dirty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 11"/>
          <p:cNvSpPr txBox="1"/>
          <p:nvPr/>
        </p:nvSpPr>
        <p:spPr>
          <a:xfrm>
            <a:off x="1417320" y="309067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Phân tích thiết kế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1417320" y="3493008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Luồng phát hiện SQLi: sơ đồ tuần tự, hoạt động, CSDL</a:t>
            </a:r>
            <a:endParaRPr lang="en-US" sz="1300" dirty="0"/>
          </a:p>
        </p:txBody>
      </p:sp>
      <p:sp>
        <p:nvSpPr>
          <p:cNvPr id="18" name="agenda3"/>
          <p:cNvSpPr/>
          <p:nvPr/>
        </p:nvSpPr>
        <p:spPr>
          <a:xfrm>
            <a:off x="4663440" y="2834640"/>
            <a:ext cx="3931920" cy="1463040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4892040" y="3108960"/>
            <a:ext cx="548640" cy="54864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 wrap="none" lIns="0" tIns="0" rIns="0" bIns="0" anchor="ctr"/>
          <a:lstStyle/>
          <a:p>
            <a:pPr algn="ctr"/>
            <a:r>
              <a:rPr lang="vi-VN" sz="1600" dirty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 15"/>
          <p:cNvSpPr txBox="1"/>
          <p:nvPr/>
        </p:nvSpPr>
        <p:spPr>
          <a:xfrm>
            <a:off x="5623560" y="309067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Vận hành, kiểm thử, đo đạc</a:t>
            </a:r>
            <a:endParaRPr lang="en-US" sz="1700" dirty="0"/>
          </a:p>
        </p:txBody>
      </p:sp>
      <p:sp>
        <p:nvSpPr>
          <p:cNvPr id="22" name="Text 16"/>
          <p:cNvSpPr txBox="1"/>
          <p:nvPr/>
        </p:nvSpPr>
        <p:spPr>
          <a:xfrm>
            <a:off x="5623560" y="3493008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E2E, độ chính xác so với ModSecurity CRS, kiểm thử tải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Bài toán và mục tiêu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97280"/>
            <a:ext cx="47548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Access log là nguồn dữ liệu sẵn có, không cần sửa ứng dụng, để nhận diện SQLi, XSS, Path Traversal.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Thu thập log liên tục (tail), không nạp file thủ công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Rule engine tự viết, không dùng lại OWASP CRS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Chấm điểm bất thường theo rule và tín hiệu hành vi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Cảnh báo theo domain, dashboard realtime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Chỉ phát hiện và cảnh báo, không tự chặn IP; chỉ xử lý domain trong scope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577840" y="1097280"/>
            <a:ext cx="1463040" cy="1417320"/>
          </a:xfrm>
          <a:prstGeom prst="roundRect">
            <a:avLst>
              <a:gd name="adj" fmla="val 5161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5577840" y="128016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5577840" y="1993392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2E8F0"/>
                </a:solidFill>
              </a:rPr>
              <a:t>rule tự viết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178040" y="1097280"/>
            <a:ext cx="1463040" cy="1417320"/>
          </a:xfrm>
          <a:prstGeom prst="roundRect">
            <a:avLst>
              <a:gd name="adj" fmla="val 5161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178040" y="128016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E7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7178040" y="1993392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293B"/>
                </a:solidFill>
              </a:rPr>
              <a:t>nhóm tấn công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577840" y="2697480"/>
            <a:ext cx="1463040" cy="1417320"/>
          </a:xfrm>
          <a:prstGeom prst="roundRect">
            <a:avLst>
              <a:gd name="adj" fmla="val 5161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5577840" y="288036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E7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3600" dirty="0"/>
          </a:p>
        </p:txBody>
      </p:sp>
      <p:sp>
        <p:nvSpPr>
          <p:cNvPr id="12" name="Text 10"/>
          <p:cNvSpPr txBox="1"/>
          <p:nvPr/>
        </p:nvSpPr>
        <p:spPr>
          <a:xfrm>
            <a:off x="5577840" y="3593592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293B"/>
                </a:solidFill>
              </a:rPr>
              <a:t>service / module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178040" y="2697480"/>
            <a:ext cx="1463040" cy="1417320"/>
          </a:xfrm>
          <a:prstGeom prst="roundRect">
            <a:avLst>
              <a:gd name="adj" fmla="val 5161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7178040" y="288036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173</a:t>
            </a:r>
            <a:endParaRPr lang="en-US" sz="3600" dirty="0"/>
          </a:p>
        </p:txBody>
      </p:sp>
      <p:sp>
        <p:nvSpPr>
          <p:cNvPr id="15" name="Text 13"/>
          <p:cNvSpPr txBox="1"/>
          <p:nvPr/>
        </p:nvSpPr>
        <p:spPr>
          <a:xfrm>
            <a:off x="7178040" y="3593592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2E8F0"/>
                </a:solidFill>
              </a:rPr>
              <a:t>unit test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Kiến trúc tổng thể: microservice hướng sự kiện</a:t>
            </a:r>
            <a:endParaRPr lang="en-US" sz="2600" dirty="0"/>
          </a:p>
        </p:txBody>
      </p:sp>
      <p:pic>
        <p:nvPicPr>
          <p:cNvPr id="3" name="Sơ đồ kiến trúc" descr="Sơ đồ kiến trúc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4237"/>
            <a:ext cx="5760720" cy="3515087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0" y="1005840"/>
            <a:ext cx="22860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E7490"/>
                </a:solidFill>
              </a:rPr>
              <a:t>6 tầng</a:t>
            </a:r>
            <a:endParaRPr lang="en-US" sz="125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Nguồn log, thu thập, event bus, phát hiện, nền tảng, dữ liệu</a:t>
            </a:r>
            <a:endParaRPr lang="en-US" sz="1250" dirty="0"/>
          </a:p>
          <a:p>
            <a:pPr indent="0" marL="0"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250" dirty="0"/>
          </a:p>
          <a:p>
            <a:pPr indent="0" marL="0">
              <a:buNone/>
            </a:pPr>
            <a:r>
              <a:rPr lang="en-US" sz="1400" dirty="0">
                <a:solidFill>
                  <a:srgbClr val="0E7490"/>
                </a:solidFill>
              </a:rPr>
              <a:t>Kafka là kênh giao tiếp chung</a:t>
            </a:r>
            <a:endParaRPr lang="en-US" sz="125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Tên topic trùng tên sự kiện, key domain|src_ip, at-least-once</a:t>
            </a:r>
            <a:endParaRPr lang="en-US" sz="1250" dirty="0"/>
          </a:p>
          <a:p>
            <a:pPr indent="0" marL="0"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250" dirty="0"/>
          </a:p>
          <a:p>
            <a:pPr indent="0" marL="0">
              <a:buNone/>
            </a:pPr>
            <a:r>
              <a:rPr lang="en-US" sz="1400" dirty="0">
                <a:solidFill>
                  <a:srgbClr val="0E7490"/>
                </a:solidFill>
              </a:rPr>
              <a:t>Ràng buộc scope</a:t>
            </a:r>
            <a:endParaRPr lang="en-US" sz="125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C1-C3 và detector gọi GET /scope/check trước khi xử lý (fail-closed)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Luồng sự kiện qua Kafka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234440"/>
            <a:ext cx="1325880" cy="1234440"/>
          </a:xfrm>
          <a:prstGeom prst="roundRect">
            <a:avLst>
              <a:gd name="adj" fmla="val 592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457200" y="132588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E7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55648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F172A"/>
                </a:solidFill>
              </a:rPr>
              <a:t>Ingestion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048256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tail log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828800" y="1719072"/>
            <a:ext cx="292608" cy="274320"/>
          </a:xfrm>
          <a:prstGeom prst="rightArrow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325880" y="260604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log.raw.ingested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157984" y="1234440"/>
            <a:ext cx="1325880" cy="1234440"/>
          </a:xfrm>
          <a:prstGeom prst="roundRect">
            <a:avLst>
              <a:gd name="adj" fmla="val 592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2157984" y="132588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E7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2157984" y="1755648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F172A"/>
                </a:solidFill>
              </a:rPr>
              <a:t>Parser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2157984" y="2048256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chuẩn hoá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529584" y="1719072"/>
            <a:ext cx="292608" cy="274320"/>
          </a:xfrm>
          <a:prstGeom prst="rightArrow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026664" y="260604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log.normalized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858768" y="1234440"/>
            <a:ext cx="1325880" cy="1234440"/>
          </a:xfrm>
          <a:prstGeom prst="roundRect">
            <a:avLst>
              <a:gd name="adj" fmla="val 592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3858768" y="132588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E7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C3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3858768" y="1755648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F172A"/>
                </a:solidFill>
              </a:rPr>
              <a:t>Enrichment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3858768" y="2048256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GeoIP, phiên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230368" y="1719072"/>
            <a:ext cx="292608" cy="274320"/>
          </a:xfrm>
          <a:prstGeom prst="rightArrow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27448" y="260604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log.enriched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559552" y="1234440"/>
            <a:ext cx="1325880" cy="1234440"/>
          </a:xfrm>
          <a:prstGeom prst="roundRect">
            <a:avLst>
              <a:gd name="adj" fmla="val 5926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5559552" y="132588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D1, D3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5559552" y="1755648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Detector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5559552" y="2048256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BD5E1"/>
                </a:solidFill>
              </a:rPr>
              <a:t>rule và điểm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931152" y="1719072"/>
            <a:ext cx="292608" cy="274320"/>
          </a:xfrm>
          <a:prstGeom prst="rightArrow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428232" y="260604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alert.triggered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attack.detected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7260336" y="1234440"/>
            <a:ext cx="1325880" cy="1234440"/>
          </a:xfrm>
          <a:prstGeom prst="roundRect">
            <a:avLst>
              <a:gd name="adj" fmla="val 592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7260336" y="132588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E7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P4, P5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7260336" y="1755648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F172A"/>
                </a:solidFill>
              </a:rPr>
              <a:t>Alert, UI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7260336" y="2048256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email, SSE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457200" y="3017520"/>
            <a:ext cx="8229600" cy="1554480"/>
          </a:xfrm>
          <a:prstGeom prst="roundRect">
            <a:avLst>
              <a:gd name="adj" fmla="val 5517"/>
            </a:avLst>
          </a:prstGeom>
          <a:solidFill>
            <a:srgbClr val="FFFBEB"/>
          </a:solidFill>
          <a:ln w="12700">
            <a:solidFill>
              <a:srgbClr val="FFFB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 txBox="1"/>
          <p:nvPr/>
        </p:nvSpPr>
        <p:spPr>
          <a:xfrm>
            <a:off x="685800" y="3154680"/>
            <a:ext cx="7772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Envelope thống nhất: 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 event, event_id, schema_version, request_id | session_id, timestamp, source, domain, data }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Kafka 4.1 KRaft, 3 partition mỗi topic sự kiện, retention 3 ngày; 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rules.changed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 (compacted), 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waf.deadletter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 (7 ngày)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Commit offset chỉ sau khi broker xác nhận mọi output, bảo đảm at-least-once; event_id do detector sinh xác định theo input nên không trùng khi xử lý lại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Mô hình triển khai: 3 stack và giám sát</a:t>
            </a:r>
            <a:endParaRPr lang="en-US" sz="2600" dirty="0"/>
          </a:p>
        </p:txBody>
      </p:sp>
      <p:pic>
        <p:nvPicPr>
          <p:cNvPr id="3" name="Sơ đồ triển khai" descr="Sơ đồ triển kha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9817" y="914400"/>
            <a:ext cx="7124366" cy="32461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297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make up</a:t>
            </a:r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: demo 1 stack;   </a:t>
            </a:r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make deploy-up</a:t>
            </a:r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: 3 stack;   </a:t>
            </a:r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make obs-up</a:t>
            </a:r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: Grafana;   </a:t>
            </a:r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make server-up</a:t>
            </a:r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: server thật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Môi trường triển khai: hệ điều hành và runtime</a:t>
            </a:r>
            <a:endParaRPr lang="en-US" sz="2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512064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1325880"/>
                <a:gridCol w="29260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Mức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Thành phần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Hệ điều hành / phiên bản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Host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Máy chủ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Linux 64-bit (Ubuntu 22.04/24.04 LTS) với Docker Engine; hoặc macOS, Windows (WSL2) với Docker Desktop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Host (đo)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Máy thực nghiệm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macOS, Apple M4 (arm64), Docker Desktop 10 CPU, 8 GB 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Container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C1-C3, P1-P5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Debian GNU/Linux, python:3.12-slim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Container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detector, rule-api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Ubuntu LTS, eclipse-temurin:17-jre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Container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nginx, gateway, postgres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Alpine Linux, nginx:1.28-alpine, postgres:17-alpine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852160" y="960120"/>
            <a:ext cx="2834640" cy="3611880"/>
          </a:xfrm>
          <a:prstGeom prst="roundRect">
            <a:avLst>
              <a:gd name="adj" fmla="val 2581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6035040" y="107899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59E0B"/>
                </a:solidFill>
              </a:rPr>
              <a:t>Runtime và công cụ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6035040" y="150876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</a:rPr>
              <a:t>Python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589520" y="150876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3.12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6035040" y="198424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</a:rPr>
              <a:t>Java (Temurin)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589520" y="198424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17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6035040" y="2459736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</a:rPr>
              <a:t>Maven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459736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3.9.11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6035040" y="2935224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</a:rPr>
              <a:t>Docker Compose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7589520" y="293522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≥ 2.30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6035040" y="3410712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</a:rPr>
              <a:t>Kafka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7589520" y="341071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4.1.0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6035040" y="38862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</a:rPr>
              <a:t>PostgreSQL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7589520" y="388620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17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457200" y="416052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Tiện ích: make, curl, jq, openssl, Redocly CLI 1.34.5, GeoIP DB-IP City Lite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Thư viện, công cụ và phiên bản</a:t>
            </a:r>
            <a:endParaRPr lang="en-US" sz="2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265176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96012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Thư viện Python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Phiên bản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confluent-kafka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2.16.0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fastapi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0.115.5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uvicorn[standard]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0.32.1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psycopg[binary] / pool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3.2.3 / 3.2.4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PyJWT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2.10.1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httpx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0.28.1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geoip2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4.8.1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PyYAML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6.0.2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jsonschema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4.23.0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prometheus-client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0.21.1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91840" y="960120"/>
          <a:ext cx="256032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86868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Thư viện Java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Phiên bản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kafka-clients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4.1.2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jackson-databind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2.20.1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jackson-dataformat-yaml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2.20.1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re2j (regex RE2)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junit-jupiter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5.14.1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5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35040" y="960120"/>
          <a:ext cx="26517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28016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Hạ tầng / công cụ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Phiên bản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Nginx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1.28-alpine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Mailpit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v1.27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Swagger UI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v5.27.1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Kafka UI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v1.4.2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Prometheus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v3.1.0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Grafana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11.4.0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Loki / Promtail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3.3.2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kafka-exporter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v1.9.0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ModSecurity CRS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4.25.2 (đối chứng)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6" name="Text 1"/>
          <p:cNvSpPr txBox="1"/>
          <p:nvPr/>
        </p:nvSpPr>
        <p:spPr>
          <a:xfrm>
            <a:off x="3291840" y="301752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0E7490"/>
                </a:solidFill>
              </a:rPr>
              <a:t>Mọi phiên bản được ghim cố định trong requirements.txt, pom.xml và docker-compose.yml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Biểu đồ use case tổng quan</a:t>
            </a:r>
            <a:endParaRPr lang="en-US" sz="2600" dirty="0"/>
          </a:p>
        </p:txBody>
      </p:sp>
      <p:pic>
        <p:nvPicPr>
          <p:cNvPr id="3" name="Use case tổng quan" descr="Use case tổng qu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6870" y="868680"/>
            <a:ext cx="4798499" cy="38862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309360" y="1097280"/>
            <a:ext cx="23774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E7490"/>
                </a:solidFill>
              </a:rPr>
              <a:t>4 tác nhân</a:t>
            </a:r>
            <a:endParaRPr lang="en-US" sz="125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Chuyên viên SOC, Quản trị viên (kế thừa SOC), Web server, Kênh nhận cảnh báo</a:t>
            </a:r>
            <a:endParaRPr lang="en-US" sz="1250" dirty="0"/>
          </a:p>
          <a:p>
            <a:pPr indent="0" marL="0"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250" dirty="0"/>
          </a:p>
          <a:p>
            <a:pPr indent="0" marL="0">
              <a:buNone/>
            </a:pPr>
            <a:r>
              <a:rPr lang="en-US" sz="1400" dirty="0">
                <a:solidFill>
                  <a:srgbClr val="0E7490"/>
                </a:solidFill>
              </a:rPr>
              <a:t>10 use case</a:t>
            </a:r>
            <a:endParaRPr lang="en-US" sz="125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UC02, UC03, UC07, UC08, UC09 include UC01 Đăng nhập (JWT)</a:t>
            </a:r>
            <a:endParaRPr lang="en-US" sz="125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UC04 include UC05; UC06 extend UC05 khi điểm đạt ngưỡng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rã UC03: quản lý rule phát hiện</a:t>
            </a:r>
            <a:endParaRPr lang="en-US" sz="2600" dirty="0"/>
          </a:p>
        </p:txBody>
      </p:sp>
      <p:pic>
        <p:nvPicPr>
          <p:cNvPr id="3" name="Phân rã UC03" descr="Phân rã UC0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88531" y="900000"/>
            <a:ext cx="6366938" cy="343000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57200" y="4390000"/>
            <a:ext cx="8229600" cy="3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UC03 - CRUD rule, kiểm tra RE2, chạy thử rule trên request mẫu, phát snapshot rules.changed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rã UC04: thu thập và chuẩn hoá log</a:t>
            </a:r>
            <a:endParaRPr lang="en-US" sz="2600" dirty="0"/>
          </a:p>
        </p:txBody>
      </p:sp>
      <p:pic>
        <p:nvPicPr>
          <p:cNvPr id="3" name="Phân rã UC04" descr="Phân rã UC0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77896" y="900000"/>
            <a:ext cx="5988208" cy="3430000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457200" y="4390000"/>
            <a:ext cx="8229600" cy="3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UC04 - đọc log, parse, kiểm tra phạm vi, GeoIP, đếm tần suất, gom phiên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Sơ đồ tuần tự (a): phát hiện SQL Injection</a:t>
            </a:r>
            <a:endParaRPr lang="en-US" sz="2600" dirty="0"/>
          </a:p>
        </p:txBody>
      </p:sp>
      <p:pic>
        <p:nvPicPr>
          <p:cNvPr id="3" name="Sơ đồ tuần tự a" descr="Sơ đồ tuần tự 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8414" y="868680"/>
            <a:ext cx="6847172" cy="38404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Sơ đồ tuần tự (b): cảnh báo và hiển thị realtime</a:t>
            </a:r>
            <a:endParaRPr lang="en-US" sz="2600" dirty="0"/>
          </a:p>
        </p:txBody>
      </p:sp>
      <p:pic>
        <p:nvPicPr>
          <p:cNvPr id="3" name="Sơ đồ tuần tự b" descr="Sơ đồ tuần tự 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354763"/>
            <a:ext cx="6035040" cy="286831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583680" y="1005840"/>
            <a:ext cx="21031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E7490"/>
                </a:solidFill>
              </a:rPr>
              <a:t>Hai nhánh song song</a:t>
            </a:r>
            <a:endParaRPr lang="en-US" sz="125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P4 và P5 là hai consumer group độc lập</a:t>
            </a:r>
            <a:endParaRPr lang="en-US" sz="1250" dirty="0"/>
          </a:p>
          <a:p>
            <a:pPr indent="0" marL="0"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250" dirty="0"/>
          </a:p>
          <a:p>
            <a:pPr indent="0" marL="0">
              <a:buNone/>
            </a:pPr>
            <a:r>
              <a:rPr lang="en-US" sz="1400" dirty="0">
                <a:solidFill>
                  <a:srgbClr val="0E7490"/>
                </a:solidFill>
              </a:rPr>
              <a:t>P4 Alerting</a:t>
            </a:r>
            <a:endParaRPr lang="en-US" sz="125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Ngưỡng theo domain, cooldown (domain, IP, loại), gửi email và webhook</a:t>
            </a:r>
            <a:endParaRPr lang="en-US" sz="1250" dirty="0"/>
          </a:p>
          <a:p>
            <a:pPr indent="0" marL="0"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250" dirty="0"/>
          </a:p>
          <a:p>
            <a:pPr indent="0" marL="0">
              <a:buNone/>
            </a:pPr>
            <a:r>
              <a:rPr lang="en-US" sz="1400" dirty="0">
                <a:solidFill>
                  <a:srgbClr val="0E7490"/>
                </a:solidFill>
              </a:rPr>
              <a:t>P5 Dashboard</a:t>
            </a:r>
            <a:endParaRPr lang="en-US" sz="125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Lưu detection.attacks, đẩy SSE; truy cập qua Gateway với JWT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Sơ đồ hoạt động (swimlane theo service)</a:t>
            </a:r>
            <a:endParaRPr lang="en-US" sz="2600" dirty="0"/>
          </a:p>
        </p:txBody>
      </p:sp>
      <p:pic>
        <p:nvPicPr>
          <p:cNvPr id="3" name="Sơ đồ hoạt động" descr="Sơ đồ hoạt độ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6075" y="868680"/>
            <a:ext cx="3551290" cy="38862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572000" y="1005840"/>
            <a:ext cx="411480" cy="41148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4572000" y="10058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120640" y="932688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Domain thuộc scope?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120640" y="1243584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Không: bỏ qua, vẫn commit offset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572000" y="1764792"/>
            <a:ext cx="411480" cy="41148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572000" y="17647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120640" y="169164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Parse được dòng log?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5120640" y="2002536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Không: ghi vào waf.deadletter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572000" y="2523744"/>
            <a:ext cx="411480" cy="41148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572000" y="252374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5120640" y="2450592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Có rule khớp?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5120640" y="2761488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Có: phát attack.detected (mỗi rule 1 sự kiện)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4572000" y="3282696"/>
            <a:ext cx="411480" cy="41148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572000" y="328269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5120640" y="3209544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Điểm ≥ 70 và qua cooldown 15 s?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5120640" y="352044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Có: phát alert.triggered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4572000" y="4041648"/>
            <a:ext cx="411480" cy="41148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572000" y="404164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5120640" y="3968496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Vượt ngưỡng domain (P4)?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5120640" y="4279392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Có: lưu cảnh báo, gửi email và webhook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Thiết kế cơ sở dữ liệu</a:t>
            </a:r>
            <a:endParaRPr lang="en-US" sz="2600" dirty="0"/>
          </a:p>
        </p:txBody>
      </p:sp>
      <p:pic>
        <p:nvPicPr>
          <p:cNvPr id="3" name="ERD" descr="E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7564" y="868680"/>
            <a:ext cx="7408873" cy="32461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PostgreSQL 17, mỗi module một schema riêng; quan hệ logic (không khai báo FK) vì bảng do các service khác nhau ghi bất đồng bộ từ Kafka; rule lưu ở rules.json và topic compacted rules.changed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Thuật toán chấm điểm bất thường (D3)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2606040" cy="1143000"/>
          </a:xfrm>
          <a:prstGeom prst="roundRect">
            <a:avLst>
              <a:gd name="adj" fmla="val 64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640080" y="114300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95, 85, 65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276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Rule khớp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865376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điểm cao nhất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246120" y="1005840"/>
            <a:ext cx="2606040" cy="1143000"/>
          </a:xfrm>
          <a:prstGeom prst="roundRect">
            <a:avLst>
              <a:gd name="adj" fmla="val 64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3429000" y="114300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3429000" y="16276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Rule khớp thêm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1865376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mỗi rule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035040" y="1005840"/>
            <a:ext cx="2606040" cy="1143000"/>
          </a:xfrm>
          <a:prstGeom prst="roundRect">
            <a:avLst>
              <a:gd name="adj" fmla="val 64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217920" y="114300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+30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6217920" y="16276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request_burst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0" y="1865376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≥ 20 request / 60 s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57200" y="2331720"/>
            <a:ext cx="2606040" cy="1143000"/>
          </a:xfrm>
          <a:prstGeom prst="roundRect">
            <a:avLst>
              <a:gd name="adj" fmla="val 64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40080" y="246888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+40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295351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request_flood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3191256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≥ 100 request / 60 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3246120" y="2331720"/>
            <a:ext cx="2606040" cy="1143000"/>
          </a:xfrm>
          <a:prstGeom prst="roundRect">
            <a:avLst>
              <a:gd name="adj" fmla="val 64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3429000" y="246888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0E7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+25</a:t>
            </a:r>
            <a:endParaRPr lang="en-US" sz="2600" dirty="0"/>
          </a:p>
        </p:txBody>
      </p:sp>
      <p:sp>
        <p:nvSpPr>
          <p:cNvPr id="21" name="Text 19"/>
          <p:cNvSpPr txBox="1"/>
          <p:nvPr/>
        </p:nvSpPr>
        <p:spPr>
          <a:xfrm>
            <a:off x="3429000" y="295351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http_error_burst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3429000" y="3191256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≥ 8 lỗi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035040" y="2331720"/>
            <a:ext cx="2606040" cy="1143000"/>
          </a:xfrm>
          <a:prstGeom prst="roundRect">
            <a:avLst>
              <a:gd name="adj" fmla="val 64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6217920" y="246888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0E7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+25</a:t>
            </a:r>
            <a:endParaRPr lang="en-US" sz="2600" dirty="0"/>
          </a:p>
        </p:txBody>
      </p:sp>
      <p:sp>
        <p:nvSpPr>
          <p:cNvPr id="25" name="Text 23"/>
          <p:cNvSpPr txBox="1"/>
          <p:nvPr/>
        </p:nvSpPr>
        <p:spPr>
          <a:xfrm>
            <a:off x="6217920" y="295351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path_scan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6217920" y="3191256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≥ 12 path khác nhau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57200" y="3730752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685800" y="379476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9E0B"/>
                </a:solidFill>
              </a:rPr>
              <a:t>Tổng chặn ở 100, cảnh báo khi ≥ 70.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Nguồn không mang payload vẫn bị phát hiện: dò quét 30 + 25 + 25 = 80, flood một nguồn 30 + 40 = 70. Regex RE2 có thời gian khớp tuyến tính nên không bị ReDoS.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Kịch bản 1: vận hành và kiểm thử end-to-end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502920" cy="502920"/>
          </a:xfrm>
          <a:prstGeom prst="ellipse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 wrap="none" lIns="0" tIns="0" rIns="0" bIns="0" anchor="ctr"/>
          <a:lstStyle/>
          <a:p>
            <a:pPr algn="ctr"/>
            <a:r>
              <a:rPr lang="vi-VN" sz="1500" dirty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5" name="Text 2"/>
          <p:cNvSpPr txBox="1"/>
          <p:nvPr/>
        </p:nvSpPr>
        <p:spPr>
          <a:xfrm>
            <a:off x="1097280" y="9875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make up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1097280" y="1261872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Build và khởi động toàn bộ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1874520"/>
            <a:ext cx="502920" cy="50292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 wrap="none" lIns="0" tIns="0" rIns="0" bIns="0" anchor="ctr"/>
          <a:lstStyle/>
          <a:p>
            <a:pPr algn="ctr"/>
            <a:r>
              <a:rPr lang="vi-VN" sz="1500" dirty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 5"/>
          <p:cNvSpPr txBox="1"/>
          <p:nvPr/>
        </p:nvSpPr>
        <p:spPr>
          <a:xfrm>
            <a:off x="1097280" y="18562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make demo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1097280" y="2130552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Gửi request thật: bình thường, SQLi, XSS, PT, CI, LFI/RFI, Log4Shell.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457200" y="2743200"/>
            <a:ext cx="502920" cy="50292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 wrap="none" lIns="0" tIns="0" rIns="0" bIns="0" anchor="ctr"/>
          <a:lstStyle/>
          <a:p>
            <a:pPr algn="ctr"/>
            <a:r>
              <a:rPr lang="vi-VN" sz="1500" dirty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3" name="Text 8"/>
          <p:cNvSpPr txBox="1"/>
          <p:nvPr/>
        </p:nvSpPr>
        <p:spPr>
          <a:xfrm>
            <a:off x="1097280" y="27249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make e2e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1097280" y="2999232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Nghiệm thu tự động (chờ tối đa 45 s)</a:t>
            </a:r>
            <a:endParaRPr 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457200" y="3611880"/>
            <a:ext cx="502920" cy="50292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 wrap="none" lIns="0" tIns="0" rIns="0" bIns="0" anchor="ctr"/>
          <a:lstStyle/>
          <a:p>
            <a:pPr algn="ctr"/>
            <a:r>
              <a:rPr lang="vi-VN" sz="1500" dirty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7" name="Text 11"/>
          <p:cNvSpPr txBox="1"/>
          <p:nvPr/>
        </p:nvSpPr>
        <p:spPr>
          <a:xfrm>
            <a:off x="1097280" y="35935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 sát</a:t>
            </a:r>
            <a:endParaRPr lang="en-US" sz="1400" dirty="0"/>
          </a:p>
        </p:txBody>
      </p:sp>
      <p:sp>
        <p:nvSpPr>
          <p:cNvPr id="18" name="Text 12"/>
          <p:cNvSpPr txBox="1"/>
          <p:nvPr/>
        </p:nvSpPr>
        <p:spPr>
          <a:xfrm>
            <a:off x="1097280" y="3867912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Dashboard :8080, Mailpit :8025, webhook-sink</a:t>
            </a:r>
            <a:endParaRPr lang="en-US" sz="11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0" y="1005840"/>
          <a:ext cx="4572000" cy="914400"/>
        </p:xfrm>
        <a:graphic>
          <a:graphicData uri="http://schemas.openxmlformats.org/drawingml/2006/table">
            <a:tbl>
              <a:tblPr/>
              <a:tblGrid>
                <a:gridCol w="685800"/>
                <a:gridCol w="3063240"/>
                <a:gridCol w="822960"/>
              </a:tblGrid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Kiểm tra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Mong đợi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E2E-02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P5 ghi nhận tấn công (top_attacks)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E2E-03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Phát hiện sql_injection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E2E-04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Ghi nhận IP nguồn (top_ips)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E2E-05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Mailpit nhận email cảnh báo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E2E-06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 lịch sử cảnh báo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E2E-07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message mới vào dead-letter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= 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E2E-08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internal.local (ngoài scope): số bản ghi trong P5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tăng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Kịch bản 2: so sánh với ModSecurity CRS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2377440" cy="1051560"/>
          </a:xfrm>
          <a:prstGeom prst="roundRect">
            <a:avLst>
              <a:gd name="adj" fmla="val 6957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457200" y="105156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0,944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6459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2E8F0"/>
                </a:solidFill>
              </a:rPr>
              <a:t>Recall hệ thống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2148840"/>
            <a:ext cx="237744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457200" y="224028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0,774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834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293B"/>
                </a:solidFill>
              </a:rPr>
              <a:t>Recall CRS 4.25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3337560"/>
            <a:ext cx="237744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457200" y="342900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0,004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40233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293B"/>
                </a:solidFill>
              </a:rPr>
              <a:t>FPR (cả hai)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3017520" y="914400"/>
          <a:ext cx="5669280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10"/>
          <p:cNvSpPr txBox="1"/>
          <p:nvPr/>
        </p:nvSpPr>
        <p:spPr>
          <a:xfrm>
            <a:off x="3017520" y="4370832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Precision 0,985, F1 0,964 (CRS: 0,981 và 0,865). Recall cao hơn CRS ở RFI, command injection, SSTI; thấp hơn ở SQLi, XSS.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Tín hiệu hành vi bổ sung phần rule bỏ sót</a:t>
            </a:r>
            <a:endParaRPr lang="en-US" sz="26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828800"/>
                <a:gridCol w="914400"/>
                <a:gridCol w="914400"/>
                <a:gridCol w="914400"/>
                <a:gridCol w="914400"/>
                <a:gridCol w="11887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Cấu hình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Nguồn độc hại bị cảnh báo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Báo nhầm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Payload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Dò quét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Flood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Trễ trung vị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A: chỉ rule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31/36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2/85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29/30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2/4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B: chỉ hành vi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6/36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0/85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0/30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4/4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2/2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8,1 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C: kết hợp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35/36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2/85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29/30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4/4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2/2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ModSecurity CRS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34/36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2/85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30/30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4/4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457200" y="315468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640080" y="3310128"/>
            <a:ext cx="411480" cy="41148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 wrap="none" lIns="0" tIns="0" rIns="0" bIns="0" anchor="ctr"/>
          <a:lstStyle/>
          <a:p>
            <a:pPr algn="ctr"/>
            <a:r>
              <a:rPr lang="vi-VN" sz="1300" dirty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 3"/>
          <p:cNvSpPr txBox="1"/>
          <p:nvPr/>
        </p:nvSpPr>
        <p:spPr>
          <a:xfrm>
            <a:off x="1170432" y="3346704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 thêm 4 nguồn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640080" y="3822192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2 scanner giả User-Agent và 2 nguồn flood, không thêm báo nhầm</a:t>
            </a:r>
            <a:endParaRPr lang="en-US" sz="1150" dirty="0"/>
          </a:p>
        </p:txBody>
      </p:sp>
      <p:sp>
        <p:nvSpPr>
          <p:cNvPr id="9" name="Shape 5"/>
          <p:cNvSpPr/>
          <p:nvPr/>
        </p:nvSpPr>
        <p:spPr>
          <a:xfrm>
            <a:off x="3246120" y="315468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3429000" y="3310128"/>
            <a:ext cx="411480" cy="41148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 wrap="none" lIns="0" tIns="0" rIns="0" bIns="0" anchor="ctr"/>
          <a:lstStyle/>
          <a:p>
            <a:pPr algn="ctr"/>
            <a:r>
              <a:rPr lang="vi-VN" sz="1300" dirty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2" name="Text 7"/>
          <p:cNvSpPr txBox="1"/>
          <p:nvPr/>
        </p:nvSpPr>
        <p:spPr>
          <a:xfrm>
            <a:off x="3959352" y="3346704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Báo nhầm duy nhất</a:t>
            </a:r>
            <a:endParaRPr lang="en-US" sz="1300" dirty="0"/>
          </a:p>
        </p:txBody>
      </p:sp>
      <p:sp>
        <p:nvSpPr>
          <p:cNvPr id="13" name="Text 8"/>
          <p:cNvSpPr txBox="1"/>
          <p:nvPr/>
        </p:nvSpPr>
        <p:spPr>
          <a:xfrm>
            <a:off x="3429000" y="3822192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Truy vấn ../ relative path docs, nhập nhằng có chủ ý</a:t>
            </a:r>
            <a:endParaRPr lang="en-US" sz="1150" dirty="0"/>
          </a:p>
        </p:txBody>
      </p:sp>
      <p:sp>
        <p:nvSpPr>
          <p:cNvPr id="14" name="Shape 9"/>
          <p:cNvSpPr/>
          <p:nvPr/>
        </p:nvSpPr>
        <p:spPr>
          <a:xfrm>
            <a:off x="6035040" y="315468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6217920" y="3310128"/>
            <a:ext cx="411480" cy="41148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 wrap="none" lIns="0" tIns="0" rIns="0" bIns="0" anchor="ctr"/>
          <a:lstStyle/>
          <a:p>
            <a:pPr algn="ctr"/>
            <a:r>
              <a:rPr lang="vi-VN" sz="1300" dirty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 11"/>
          <p:cNvSpPr txBox="1"/>
          <p:nvPr/>
        </p:nvSpPr>
        <p:spPr>
          <a:xfrm>
            <a:off x="6748272" y="3346704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15 request bỏ sót</a:t>
            </a:r>
            <a:endParaRPr lang="en-US" sz="1300" dirty="0"/>
          </a:p>
        </p:txBody>
      </p:sp>
      <p:sp>
        <p:nvSpPr>
          <p:cNvPr id="18" name="Text 12"/>
          <p:cNvSpPr txBox="1"/>
          <p:nvPr/>
        </p:nvSpPr>
        <p:spPr>
          <a:xfrm>
            <a:off x="6217920" y="3822192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SSTI ${7*7}, XSS ngữ cảnh JS, SQLi ORDER BY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Kịch bản 3: kiểm thử tải 20.000 dòng log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914400"/>
          <a:ext cx="512064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5852160" y="914400"/>
            <a:ext cx="1353312" cy="1371600"/>
          </a:xfrm>
          <a:prstGeom prst="roundRect">
            <a:avLst>
              <a:gd name="adj" fmla="val 5405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5852160" y="1097280"/>
            <a:ext cx="1353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 lần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5925312" y="1691640"/>
            <a:ext cx="12070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2E8F0"/>
                </a:solidFill>
              </a:rPr>
              <a:t>nhanh hơn sau tối ưu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7315200" y="914400"/>
            <a:ext cx="1353312" cy="1371600"/>
          </a:xfrm>
          <a:prstGeom prst="roundRect">
            <a:avLst>
              <a:gd name="adj" fmla="val 5405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315200" y="1097280"/>
            <a:ext cx="1353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E7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32.468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7388352" y="1691640"/>
            <a:ext cx="12070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message/s tại C1 (100.000 dòng)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852160" y="2468880"/>
            <a:ext cx="1353312" cy="1371600"/>
          </a:xfrm>
          <a:prstGeom prst="roundRect">
            <a:avLst>
              <a:gd name="adj" fmla="val 5405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5852160" y="2651760"/>
            <a:ext cx="1353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E7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5.774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5925312" y="3246120"/>
            <a:ext cx="12070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message/s tại detector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7315200" y="2468880"/>
            <a:ext cx="1353312" cy="1371600"/>
          </a:xfrm>
          <a:prstGeom prst="roundRect">
            <a:avLst>
              <a:gd name="adj" fmla="val 5405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7315200" y="2651760"/>
            <a:ext cx="1353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E7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7388352" y="3246120"/>
            <a:ext cx="12070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message vào dead-letter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457200" y="41148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Điểm nghẽn ban đầu ở C2 (flush và commit từng message, key theo domain nên dữ liệu dồn vào 1 partition). Điểm nghẽn hiện tại là detector, có thể chạy 3 instance cùng group.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Kết luận và hướng phát triển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2560320" cy="3108960"/>
          </a:xfrm>
          <a:prstGeom prst="roundRect">
            <a:avLst>
              <a:gd name="adj" fmla="val 2857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5087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0B981"/>
                </a:solidFill>
              </a:rPr>
              <a:t>Đạt được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965960"/>
            <a:ext cx="2240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</a:rPr>
              <a:t>Pipeline realtime từ log tới cảnh báo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</a:rPr>
              <a:t>Rule engine tự viết, RE2, 20 rule thuộc 10 nhóm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</a:rPr>
              <a:t>Recall 0,944 với FPR 0,004; phát hiện 35/36 nguồn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</a:rPr>
              <a:t>20.000 dòng log trong 4,5 giây; 173 unit test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91840" y="1371600"/>
            <a:ext cx="2560320" cy="3108960"/>
          </a:xfrm>
          <a:prstGeom prst="roundRect">
            <a:avLst>
              <a:gd name="adj" fmla="val 2857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474720" y="15087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59E0B"/>
                </a:solidFill>
              </a:rPr>
              <a:t>Hạn chế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1965960"/>
            <a:ext cx="2240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</a:rPr>
              <a:t>Không phân tích request body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</a:rPr>
              <a:t>Dữ liệu tổng hợp, quy mô nhỏ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</a:rPr>
              <a:t>Ngưỡng chọn theo kinh nghiệm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</a:rPr>
              <a:t>Kafka PLAINTEXT, một node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035040" y="1371600"/>
            <a:ext cx="2560320" cy="3108960"/>
          </a:xfrm>
          <a:prstGeom prst="roundRect">
            <a:avLst>
              <a:gd name="adj" fmla="val 2857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17920" y="15087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8BDF8"/>
                </a:solidFill>
              </a:rPr>
              <a:t>Hướng phát triển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6217920" y="1965960"/>
            <a:ext cx="2240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</a:rPr>
              <a:t>Rule cho SSTI ${...}, XSS ngữ cảnh JS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</a:rPr>
              <a:t>Thêm nguồn dữ liệu, học máy cho D3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</a:rPr>
              <a:t>Kafka nhiều broker, SASL/TLS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</a:rPr>
              <a:t>Phản ứng có phê duyệt (dry-run)</a:t>
            </a:r>
            <a:endParaRPr lang="en-US" sz="1300" dirty="0"/>
          </a:p>
        </p:txBody>
      </p:sp>
      <p:sp>
        <p:nvSpPr>
          <p:cNvPr id="12" name="Text 0"/>
          <p:cNvSpPr/>
          <p:nvPr>
            <p:ph idx="100" type="title" hasCustomPrompt="1"/>
          </p:nvPr>
        </p:nvSpPr>
        <p:spPr>
          <a:xfrm>
            <a:off x="548640" y="146304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13" name="Text 0"/>
          <p:cNvSpPr/>
          <p:nvPr>
            <p:ph idx="101" type="body" hasCustomPrompt="1"/>
          </p:nvPr>
        </p:nvSpPr>
        <p:spPr>
          <a:xfrm>
            <a:off x="548640" y="29718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rã UC05: phát hiện và chấm điểm</a:t>
            </a:r>
            <a:endParaRPr lang="en-US" sz="2600" dirty="0"/>
          </a:p>
        </p:txBody>
      </p:sp>
      <p:pic>
        <p:nvPicPr>
          <p:cNvPr id="4" name="Phân rã UC05" descr="Phân rã UC05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2486" y="900000"/>
            <a:ext cx="5919027" cy="343000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457200" y="4390000"/>
            <a:ext cx="8229600" cy="3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UC05 - 5 nhóm phát hiện theo rule, chấm điểm theo hành vi, DDoS theo domain (extend)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rã UC02: quản lý phạm vi giám sát</a:t>
            </a:r>
            <a:endParaRPr lang="en-US" sz="2600" dirty="0"/>
          </a:p>
        </p:txBody>
      </p:sp>
      <p:pic>
        <p:nvPicPr>
          <p:cNvPr id="4" name="Phân rã UC02" descr="Phân rã UC0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3450" y="900000"/>
            <a:ext cx="6757100" cy="343000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457200" y="4390000"/>
            <a:ext cx="8229600" cy="3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UC02 - xem, thêm, sửa, bật/tắt, xoá domain trong allowlist; mọi thao tác qua Gateway và JWT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rã UC07, UC08: giám sát và cảnh báo</a:t>
            </a:r>
            <a:endParaRPr lang="en-US" sz="2600" dirty="0"/>
          </a:p>
        </p:txBody>
      </p:sp>
      <p:pic>
        <p:nvPicPr>
          <p:cNvPr id="5" name="Phân rã UC07-08" descr="Phân rã UC07-08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9231" y="900000"/>
            <a:ext cx="6965538" cy="343000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457200" y="4390000"/>
            <a:ext cx="8229600" cy="3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UC07, UC08 - tổng quan, realtime, lịch sử, chi tiết sự kiện, xuất CSV, nhận cảnh báo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AF Signal">
  <a:themeElements>
    <a:clrScheme name="WAF Signal">
      <a:dk1>
        <a:srgbClr val="0F172A"/>
      </a:dk1>
      <a:lt1>
        <a:srgbClr val="FFFFFF"/>
      </a:lt1>
      <a:dk2>
        <a:srgbClr val="1E293B"/>
      </a:dk2>
      <a:lt2>
        <a:srgbClr val="F1F5F9"/>
      </a:lt2>
      <a:accent1>
        <a:srgbClr val="0E7490"/>
      </a:accent1>
      <a:accent2>
        <a:srgbClr val="F59E0B"/>
      </a:accent2>
      <a:accent3>
        <a:srgbClr val="DC2626"/>
      </a:accent3>
      <a:accent4>
        <a:srgbClr val="2563EB"/>
      </a:accent4>
      <a:accent5>
        <a:srgbClr val="10B981"/>
      </a:accent5>
      <a:accent6>
        <a:srgbClr val="64748B"/>
      </a:accent6>
      <a:hlink>
        <a:srgbClr val="0E7490"/>
      </a:hlink>
      <a:folHlink>
        <a:srgbClr val="6D28D9"/>
      </a:folHlink>
    </a:clrScheme>
    <a:fontScheme name="WAF Signal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WAF Log Analyzer</dc:title>
  <dc:subject>PptxGenJS Presentation</dc:subject>
  <dc:creator>Nhóm IT6027</dc:creator>
  <cp:lastModifiedBy>Nhóm IT6027</cp:lastModifiedBy>
  <cp:revision>1</cp:revision>
  <dcterms:created xsi:type="dcterms:W3CDTF">2026-10-15T17:08:15Z</dcterms:created>
  <dcterms:modified xsi:type="dcterms:W3CDTF">2026-10-15T17:08:15Z</dcterms:modified>
</cp:coreProperties>
</file>